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15"/>
    <p:sldId id="270" r:id="rId16"/>
    <p:sldId id="271" r:id="rId17"/>
    <p:sldId id="272" r:id="rId18"/>
    <p:sldId id="273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293" autoAdjust="0"/>
  </p:normalViewPr>
  <p:slideViewPr>
    <p:cSldViewPr>
      <p:cViewPr varScale="1">
        <p:scale>
          <a:sx n="70" d="100"/>
          <a:sy n="70" d="100"/>
        </p:scale>
        <p:origin x="3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150" y="38100"/>
            <a:ext cx="3667124" cy="5048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5463" y="283463"/>
            <a:ext cx="10101072" cy="1200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1730872"/>
            <a:ext cx="8149590" cy="3088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05148" y="6451049"/>
            <a:ext cx="64452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04626" y="6451049"/>
            <a:ext cx="21590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960463" TargetMode="External"/><Relationship Id="rId2" Type="http://schemas.openxmlformats.org/officeDocument/2006/relationships/hyperlink" Target="https://ieeexplore.ieee.org/document/10613029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abstract/document/10858154" TargetMode="External"/><Relationship Id="rId5" Type="http://schemas.openxmlformats.org/officeDocument/2006/relationships/hyperlink" Target="https://ieeexplore.ieee.org/abstract/document/10637406" TargetMode="External"/><Relationship Id="rId4" Type="http://schemas.openxmlformats.org/officeDocument/2006/relationships/hyperlink" Target="https://ieeexplore.ieee.org/abstract/document/10707630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</a:t>
            </a:r>
            <a:r>
              <a:rPr lang="en-US" spc="-10" dirty="0"/>
              <a:t>0</a:t>
            </a:r>
            <a:r>
              <a:rPr spc="-10" dirty="0"/>
              <a:t>-1</a:t>
            </a:r>
            <a:r>
              <a:rPr lang="en-US" spc="-10" dirty="0"/>
              <a:t>1</a:t>
            </a:r>
            <a:r>
              <a:rPr spc="-10"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267200" y="6451049"/>
            <a:ext cx="921003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2100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US" spc="-25" dirty="0"/>
              <a:t>AB2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758844" y="6436275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CE0F6F-2FF2-5D6F-234D-E5E833197630}"/>
              </a:ext>
            </a:extLst>
          </p:cNvPr>
          <p:cNvSpPr txBox="1"/>
          <p:nvPr/>
        </p:nvSpPr>
        <p:spPr>
          <a:xfrm>
            <a:off x="304800" y="1752600"/>
            <a:ext cx="1143000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4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 Market Prediction</a:t>
            </a:r>
            <a:br>
              <a:rPr lang="en-US" sz="4400" dirty="0"/>
            </a:b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24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Sequential Log–Power Normalization and Ridge Regression</a:t>
            </a:r>
            <a:endParaRPr lang="en-US" sz="32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5463" y="283463"/>
            <a:ext cx="10101072" cy="1929228"/>
          </a:xfrm>
          <a:prstGeom prst="rect">
            <a:avLst/>
          </a:prstGeom>
        </p:spPr>
        <p:txBody>
          <a:bodyPr vert="horz" wrap="square" lIns="0" tIns="478010" rIns="0" bIns="0" rtlCol="0">
            <a:spAutoFit/>
          </a:bodyPr>
          <a:lstStyle/>
          <a:p>
            <a:pPr marL="248285" algn="ctr">
              <a:lnSpc>
                <a:spcPct val="100000"/>
              </a:lnSpc>
              <a:spcBef>
                <a:spcPts val="509"/>
              </a:spcBef>
            </a:pPr>
            <a:r>
              <a:rPr sz="1800" dirty="0"/>
              <a:t>Department</a:t>
            </a:r>
            <a:r>
              <a:rPr sz="1800" spc="-20" dirty="0"/>
              <a:t> </a:t>
            </a:r>
            <a:r>
              <a:rPr sz="1800" dirty="0"/>
              <a:t>of</a:t>
            </a:r>
            <a:r>
              <a:rPr sz="1800" spc="-5" dirty="0"/>
              <a:t> </a:t>
            </a:r>
            <a:r>
              <a:rPr sz="1800" dirty="0"/>
              <a:t>Computer</a:t>
            </a:r>
            <a:r>
              <a:rPr sz="1800" spc="-60" dirty="0"/>
              <a:t> </a:t>
            </a:r>
            <a:r>
              <a:rPr sz="1800" dirty="0"/>
              <a:t>Science</a:t>
            </a:r>
            <a:r>
              <a:rPr sz="1800" spc="15" dirty="0"/>
              <a:t> </a:t>
            </a:r>
            <a:r>
              <a:rPr sz="1800" dirty="0"/>
              <a:t>and</a:t>
            </a:r>
            <a:r>
              <a:rPr sz="1800" spc="40" dirty="0"/>
              <a:t> </a:t>
            </a:r>
            <a:r>
              <a:rPr sz="1800" spc="-10" dirty="0"/>
              <a:t>Engineering</a:t>
            </a:r>
            <a:br>
              <a:rPr lang="en-US" sz="1800" spc="-10" dirty="0"/>
            </a:br>
            <a:br>
              <a:rPr lang="en-US" sz="1800" spc="-10" dirty="0"/>
            </a:br>
            <a:r>
              <a:rPr lang="en-US" sz="2000" dirty="0">
                <a:solidFill>
                  <a:srgbClr val="FF0000"/>
                </a:solidFill>
              </a:rPr>
              <a:t>Stock Market Prediction Using Sequential Log-Power Normalization and Ridge Regression </a:t>
            </a:r>
            <a:br>
              <a:rPr lang="en-US" sz="1800" dirty="0"/>
            </a:br>
            <a:endParaRPr sz="1800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20388" y="1923712"/>
            <a:ext cx="15030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Times New Roman"/>
                <a:cs typeface="Times New Roman"/>
              </a:rPr>
              <a:t>PRESENTED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Times New Roman"/>
                <a:cs typeface="Times New Roman"/>
              </a:rPr>
              <a:t>BY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64634" y="3599878"/>
            <a:ext cx="4304665" cy="2249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Under</a:t>
            </a:r>
            <a:r>
              <a:rPr sz="1800" spc="2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Guidance</a:t>
            </a:r>
            <a:r>
              <a:rPr sz="1800" spc="-25" dirty="0">
                <a:solidFill>
                  <a:srgbClr val="006600"/>
                </a:solidFill>
                <a:latin typeface="Times New Roman"/>
                <a:cs typeface="Times New Roman"/>
              </a:rPr>
              <a:t> of,</a:t>
            </a:r>
            <a:endParaRPr sz="1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770"/>
              </a:spcBef>
            </a:pPr>
            <a:r>
              <a:rPr lang="en-US" sz="1550" b="1" spc="-85" dirty="0" err="1">
                <a:latin typeface="Times New Roman"/>
                <a:cs typeface="Times New Roman"/>
              </a:rPr>
              <a:t>Dr.K.Soma</a:t>
            </a:r>
            <a:r>
              <a:rPr lang="en-US" sz="1550" b="1" spc="-85" dirty="0">
                <a:latin typeface="Times New Roman"/>
                <a:cs typeface="Times New Roman"/>
              </a:rPr>
              <a:t> Sekhar</a:t>
            </a:r>
            <a:r>
              <a:rPr sz="1550" b="1" spc="-85" dirty="0">
                <a:latin typeface="Times New Roman"/>
                <a:cs typeface="Times New Roman"/>
              </a:rPr>
              <a:t> </a:t>
            </a:r>
            <a:r>
              <a:rPr lang="en-US" sz="1575" b="1" spc="-15" baseline="-15873" dirty="0">
                <a:latin typeface="Times New Roman"/>
                <a:cs typeface="Times New Roman"/>
              </a:rPr>
              <a:t>MTech</a:t>
            </a:r>
            <a:r>
              <a:rPr sz="1550" b="1" spc="-10" dirty="0">
                <a:latin typeface="Times New Roman"/>
                <a:cs typeface="Times New Roman"/>
              </a:rPr>
              <a:t>,</a:t>
            </a:r>
            <a:endParaRPr sz="15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70"/>
              </a:spcBef>
            </a:pPr>
            <a:r>
              <a:rPr lang="en-US" altLang="en-US" sz="14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Assistant Professor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,</a:t>
            </a:r>
            <a:endParaRPr sz="15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95"/>
              </a:spcBef>
            </a:pPr>
            <a:r>
              <a:rPr sz="1550" dirty="0">
                <a:solidFill>
                  <a:schemeClr val="tx1"/>
                </a:solidFill>
                <a:latin typeface="Times New Roman"/>
                <a:cs typeface="Times New Roman"/>
              </a:rPr>
              <a:t>Department</a:t>
            </a:r>
            <a:r>
              <a:rPr sz="1550" spc="9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chemeClr val="tx1"/>
                </a:solidFill>
                <a:latin typeface="Times New Roman"/>
                <a:cs typeface="Times New Roman"/>
              </a:rPr>
              <a:t>of</a:t>
            </a:r>
            <a:r>
              <a:rPr sz="1550" spc="18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chemeClr val="tx1"/>
                </a:solidFill>
                <a:latin typeface="Times New Roman"/>
                <a:cs typeface="Times New Roman"/>
              </a:rPr>
              <a:t>Computer</a:t>
            </a:r>
            <a:r>
              <a:rPr sz="1550" spc="8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chemeClr val="tx1"/>
                </a:solidFill>
                <a:latin typeface="Times New Roman"/>
                <a:cs typeface="Times New Roman"/>
              </a:rPr>
              <a:t>Science</a:t>
            </a:r>
            <a:r>
              <a:rPr sz="1550" spc="14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chemeClr val="tx1"/>
                </a:solidFill>
                <a:latin typeface="Times New Roman"/>
                <a:cs typeface="Times New Roman"/>
              </a:rPr>
              <a:t>and</a:t>
            </a:r>
            <a:r>
              <a:rPr sz="1550" spc="13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chemeClr val="tx1"/>
                </a:solidFill>
                <a:latin typeface="Times New Roman"/>
                <a:cs typeface="Times New Roman"/>
              </a:rPr>
              <a:t>Engineering,</a:t>
            </a:r>
            <a:endParaRPr sz="155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57785" marR="61594" algn="ctr">
              <a:lnSpc>
                <a:spcPct val="173700"/>
              </a:lnSpc>
              <a:spcBef>
                <a:spcPts val="70"/>
              </a:spcBef>
            </a:pPr>
            <a:r>
              <a:rPr sz="1550" dirty="0">
                <a:solidFill>
                  <a:schemeClr val="tx1"/>
                </a:solidFill>
                <a:latin typeface="Times New Roman"/>
                <a:cs typeface="Times New Roman"/>
              </a:rPr>
              <a:t>Narasaraopeta</a:t>
            </a:r>
            <a:r>
              <a:rPr sz="1550" spc="20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chemeClr val="tx1"/>
                </a:solidFill>
                <a:latin typeface="Times New Roman"/>
                <a:cs typeface="Times New Roman"/>
              </a:rPr>
              <a:t>Engineering</a:t>
            </a:r>
            <a:r>
              <a:rPr sz="1550" spc="18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chemeClr val="tx1"/>
                </a:solidFill>
                <a:latin typeface="Times New Roman"/>
                <a:cs typeface="Times New Roman"/>
              </a:rPr>
              <a:t>College</a:t>
            </a:r>
            <a:r>
              <a:rPr sz="1550" spc="204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chemeClr val="tx1"/>
                </a:solidFill>
                <a:latin typeface="Times New Roman"/>
                <a:cs typeface="Times New Roman"/>
              </a:rPr>
              <a:t>(Autonomous), </a:t>
            </a:r>
            <a:r>
              <a:rPr sz="1550" dirty="0">
                <a:solidFill>
                  <a:schemeClr val="tx1"/>
                </a:solidFill>
                <a:latin typeface="Times New Roman"/>
                <a:cs typeface="Times New Roman"/>
              </a:rPr>
              <a:t>Narasaraopet-</a:t>
            </a:r>
            <a:r>
              <a:rPr sz="1550" spc="15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chemeClr val="tx1"/>
                </a:solidFill>
                <a:latin typeface="Times New Roman"/>
                <a:cs typeface="Times New Roman"/>
              </a:rPr>
              <a:t>522</a:t>
            </a:r>
            <a:r>
              <a:rPr sz="1550" spc="-20" dirty="0">
                <a:solidFill>
                  <a:schemeClr val="tx1"/>
                </a:solidFill>
                <a:latin typeface="Times New Roman"/>
                <a:cs typeface="Times New Roman"/>
              </a:rPr>
              <a:t>601.</a:t>
            </a:r>
            <a:endParaRPr sz="155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131344"/>
            <a:ext cx="3648074" cy="50532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2823822-845A-8E9D-DDE3-78066C28B6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845245"/>
              </p:ext>
            </p:extLst>
          </p:nvPr>
        </p:nvGraphicFramePr>
        <p:xfrm>
          <a:off x="3810000" y="2289238"/>
          <a:ext cx="6928264" cy="1310640"/>
        </p:xfrm>
        <a:graphic>
          <a:graphicData uri="http://schemas.openxmlformats.org/drawingml/2006/table">
            <a:tbl>
              <a:tblPr/>
              <a:tblGrid>
                <a:gridCol w="6928264">
                  <a:extLst>
                    <a:ext uri="{9D8B030D-6E8A-4147-A177-3AD203B41FA5}">
                      <a16:colId xmlns:a16="http://schemas.microsoft.com/office/drawing/2014/main" val="4117064816"/>
                    </a:ext>
                  </a:extLst>
                </a:gridCol>
              </a:tblGrid>
              <a:tr h="9447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b="1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CH.Thirumala</a:t>
                      </a:r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2000" b="1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Malyadri</a:t>
                      </a:r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(22471A0509) </a:t>
                      </a:r>
                    </a:p>
                    <a:p>
                      <a:pPr algn="just">
                        <a:buNone/>
                      </a:pPr>
                      <a:r>
                        <a:rPr lang="en-US" sz="2000" b="1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CH.Rohith</a:t>
                      </a:r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         (22471A0507)</a:t>
                      </a:r>
                    </a:p>
                    <a:p>
                      <a:pPr algn="just">
                        <a:buNone/>
                      </a:pPr>
                      <a:r>
                        <a:rPr lang="en-US" sz="2000" b="1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M.Venu</a:t>
                      </a:r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              (22471A0537)</a:t>
                      </a:r>
                    </a:p>
                    <a:p>
                      <a:pPr algn="just">
                        <a:buNone/>
                      </a:pPr>
                      <a:r>
                        <a:rPr lang="en-US" sz="2000" b="1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CH.Chandu</a:t>
                      </a:r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       (22471A0511)</a:t>
                      </a:r>
                      <a:endParaRPr lang="en-US" sz="320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849320"/>
                  </a:ext>
                </a:extLst>
              </a:tr>
            </a:tbl>
          </a:graphicData>
        </a:graphic>
      </p:graphicFrame>
      <p:sp>
        <p:nvSpPr>
          <p:cNvPr id="14" name="Rectangle 1">
            <a:extLst>
              <a:ext uri="{FF2B5EF4-FFF2-40B4-BE49-F238E27FC236}">
                <a16:creationId xmlns:a16="http://schemas.microsoft.com/office/drawing/2014/main" id="{474FBAD9-7DFF-F21D-50FB-C43DE9D7A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3429000"/>
            <a:ext cx="254660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78FB7798-3729-B6F0-E81B-262BC11BF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688" y="30464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84251FB3-0AB7-FF23-6DA4-D0147A1A6A6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</a:t>
            </a:r>
            <a:r>
              <a:rPr lang="en-US" spc="-10" dirty="0"/>
              <a:t>0</a:t>
            </a:r>
            <a:r>
              <a:rPr spc="-10" dirty="0"/>
              <a:t>-1</a:t>
            </a:r>
            <a:r>
              <a:rPr lang="en-US" spc="-10" dirty="0"/>
              <a:t>1</a:t>
            </a:r>
            <a:r>
              <a:rPr spc="-10"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1C0366-8ED3-9404-D339-2076F3DAB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958" y="6386278"/>
            <a:ext cx="1009650" cy="3238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20D1CDF-3060-4358-0F58-FD1929AD1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5351" y="6378892"/>
            <a:ext cx="1085850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69255" y="529843"/>
            <a:ext cx="261302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OUTLINE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173924"/>
            <a:ext cx="3450590" cy="450850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4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Abstract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Introduction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Literature</a:t>
            </a:r>
            <a:r>
              <a:rPr sz="1800" spc="-10" dirty="0">
                <a:latin typeface="Times New Roman"/>
                <a:cs typeface="Times New Roman"/>
              </a:rPr>
              <a:t> Survey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Gaps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Problem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Statement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Objectives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Block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Diagram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/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Flow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Diagram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Methodology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Implementation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Results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and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Analysis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Conclusion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Future </a:t>
            </a:r>
            <a:r>
              <a:rPr sz="1800" spc="-20" dirty="0">
                <a:latin typeface="Times New Roman"/>
                <a:cs typeface="Times New Roman"/>
              </a:rPr>
              <a:t>Scope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References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Question </a:t>
            </a:r>
            <a:r>
              <a:rPr sz="1800" spc="-20" dirty="0">
                <a:latin typeface="Times New Roman"/>
                <a:cs typeface="Times New Roman"/>
              </a:rPr>
              <a:t>and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Answers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Acknowledgements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E66710C1-E7AD-5D36-D850-140C2EDF4501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77000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</a:t>
            </a:r>
            <a:r>
              <a:rPr lang="en-US" spc="-10" dirty="0"/>
              <a:t>0</a:t>
            </a:r>
            <a:r>
              <a:rPr spc="-10" dirty="0"/>
              <a:t>-1</a:t>
            </a:r>
            <a:r>
              <a:rPr lang="en-US" spc="-10" dirty="0"/>
              <a:t>1</a:t>
            </a:r>
            <a:r>
              <a:rPr spc="-10"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C60D0F-3694-9379-9EC2-66F371EB3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404843"/>
            <a:ext cx="1085850" cy="3238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ABBCCB-4FDC-A582-0AA4-1152D3F04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340" y="6386278"/>
            <a:ext cx="1009650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70332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ABSTRACT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1242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US" spc="-25" dirty="0"/>
              <a:t>AB2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1600200"/>
            <a:ext cx="10896600" cy="432554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prices keep changing every second and are hard to predict accurately.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models like ARIMA or Linear Regression struggle because stock data 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uneven and unstable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(like LSTM, GRU) are powerful but need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huge data and computing power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and they act like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 boxes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we can’t easily explain their predictions.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introduces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data preprocessing method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makes stock data smoother and easier to learn from.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transformations in sequence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Transformation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makes very high prices smaller and balances the data.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Yeo–Johnson Power Transformation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further reduces unevenness and stabilizes the data.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Then,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 Regression model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 simple and explainable algorithm) predicts stock prices accurately.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 gives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97–98% accuracy (R² = 0.97–0.98)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low prediction error (MSE ≈ 0)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lightweight, fast, and transparent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useful for financial analysis and decision-making.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9B81E719-F9CF-2C36-38BF-2A95F64866E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</a:t>
            </a:r>
            <a:r>
              <a:rPr lang="en-US" spc="-10" dirty="0"/>
              <a:t>0</a:t>
            </a:r>
            <a:r>
              <a:rPr spc="-10" dirty="0"/>
              <a:t>-1</a:t>
            </a:r>
            <a:r>
              <a:rPr lang="en-US" spc="-10" dirty="0"/>
              <a:t>1</a:t>
            </a:r>
            <a:r>
              <a:rPr spc="-10"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8F3E0B-1367-1E7F-562C-79A059DA7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227" y="6386278"/>
            <a:ext cx="1009650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3554" y="129259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8958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INTRODUCTION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65194" y="6451049"/>
            <a:ext cx="122300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257800" y="6451050"/>
            <a:ext cx="11430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US" spc="-25" dirty="0"/>
              <a:t>AB2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E2F04E7D-7D51-2148-5D84-CF78E0B59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544" y="1136279"/>
            <a:ext cx="8542455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Stock market prices change very fast and are difficult to predict accurately.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factors like economy, company news, and investor mood affect the stock value.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Stock data is often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noisy, uneven, and unpredictable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causes errors in prediction.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models such as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ARIMA or Linear Regression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cannot handle these variations well.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 models like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LSTM or GRU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accurate but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 and hard to explain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introduces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and transparent method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predicting stock prices.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uses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Sequential Log and Power Transformations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make data smoother and stable.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preprocessing,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Ridge Regression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applied to predict stock prices effectively.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achieves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accuracy, low error, and better interpretability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approach can help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investors, traders, and researchers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make better financial decisions easily.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31ABD66-1BE4-0E10-BBB2-DB0F197D1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326907"/>
            <a:ext cx="3056056" cy="5015299"/>
          </a:xfrm>
          <a:prstGeom prst="rect">
            <a:avLst/>
          </a:prstGeom>
        </p:spPr>
      </p:pic>
      <p:sp>
        <p:nvSpPr>
          <p:cNvPr id="3" name="object 4">
            <a:extLst>
              <a:ext uri="{FF2B5EF4-FFF2-40B4-BE49-F238E27FC236}">
                <a16:creationId xmlns:a16="http://schemas.microsoft.com/office/drawing/2014/main" id="{6927F5AE-A9B0-21A4-FE07-368BFE08EE1C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</a:t>
            </a:r>
            <a:r>
              <a:rPr lang="en-US" spc="-10" dirty="0"/>
              <a:t>0</a:t>
            </a:r>
            <a:r>
              <a:rPr spc="-10" dirty="0"/>
              <a:t>-1</a:t>
            </a:r>
            <a:r>
              <a:rPr lang="en-US" spc="-10" dirty="0"/>
              <a:t>1</a:t>
            </a:r>
            <a:r>
              <a:rPr spc="-10"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9865" y="283463"/>
            <a:ext cx="554482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LITERATURE</a:t>
            </a:r>
            <a:r>
              <a:rPr sz="3950" spc="-185" dirty="0"/>
              <a:t> </a:t>
            </a:r>
            <a:r>
              <a:rPr sz="3950" spc="-10" dirty="0"/>
              <a:t>SURVEY</a:t>
            </a:r>
            <a:endParaRPr sz="395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</a:t>
            </a:r>
            <a:r>
              <a:rPr lang="en-US" spc="-10" dirty="0"/>
              <a:t>0</a:t>
            </a:r>
            <a:r>
              <a:rPr spc="-10" dirty="0"/>
              <a:t>-1</a:t>
            </a:r>
            <a:r>
              <a:rPr lang="en-US" spc="-10" dirty="0"/>
              <a:t>1</a:t>
            </a:r>
            <a:r>
              <a:rPr spc="-10"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038600" y="6451049"/>
            <a:ext cx="1149603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188204" y="6451050"/>
            <a:ext cx="9614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US" spc="-25" dirty="0"/>
              <a:t>AB2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0605"/>
              </p:ext>
            </p:extLst>
          </p:nvPr>
        </p:nvGraphicFramePr>
        <p:xfrm>
          <a:off x="266699" y="915923"/>
          <a:ext cx="11658601" cy="53143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5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3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4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56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656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91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No</a:t>
                      </a:r>
                      <a:endParaRPr lang="en-US" sz="1400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/>
                        <a:t>Title</a:t>
                      </a:r>
                      <a:endParaRPr lang="en-US" sz="1400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/>
                        <a:t>Author</a:t>
                      </a:r>
                      <a:endParaRPr lang="en-US" sz="1400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/>
                        <a:t>URL of the Paper</a:t>
                      </a:r>
                      <a:endParaRPr lang="en-US" sz="1400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/>
                        <a:t>Methodology Adapted</a:t>
                      </a:r>
                      <a:endParaRPr lang="en-US" sz="1400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/>
                        <a:t>Key Findings</a:t>
                      </a:r>
                      <a:endParaRPr lang="en-US" sz="1400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/>
                        <a:t>Gaps</a:t>
                      </a:r>
                      <a:endParaRPr lang="en-US" sz="1400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17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1</a:t>
                      </a:r>
                      <a:endParaRPr lang="en-US" sz="1400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Enhancing Stock Market Prediction: A Robust LSTM–DNN Model Analysis on 26 Real-Life Datasets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Alam et al.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hlinkClick r:id="rId2"/>
                        </a:rPr>
                        <a:t>https://ieeexplore.ieee.org/document/10613029</a:t>
                      </a:r>
                      <a:endParaRPr lang="en-US" sz="1400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Sliding window, normalization, hybrid LSTM–DNN, Adam optimizer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Achieved R² = 0.986; high accuracy on 26 stock datasets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Sensitive to missing data; not real-time adaptable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58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2</a:t>
                      </a:r>
                      <a:endParaRPr lang="en-US" sz="1400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A Multi-Market Data-Driven Stock Price Prediction System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Yu, Chen, Zheng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hlinkClick r:id="rId3"/>
                        </a:rPr>
                        <a:t>https://ieeexplore.ieee.org/document/10960463</a:t>
                      </a:r>
                      <a:endParaRPr lang="en-US" sz="1400" dirty="0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GRU, LSTM, Transformer, Z-score normalization, grid search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GRU achieved best results (Sharpe ratio ≈ 2.72; avg return ≈ 2–2.4%)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Focused only on Chinese market; low interpretability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58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3</a:t>
                      </a:r>
                      <a:endParaRPr lang="en-US" sz="1400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Multi-Cluster Graph (MCG): Graph Neural Networks for Stock Forecasting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Yasmeen Ansari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hlinkClick r:id="rId4"/>
                        </a:rPr>
                        <a:t>https://ieeexplore.ieee.org/abstract/document/10707630</a:t>
                      </a:r>
                      <a:endParaRPr lang="en-US" sz="1400" dirty="0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GCN + LSTM; multi-cluster graph modeling; Yahoo Finance data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MAE = 0.08; MSE = 0.01; improved temporal-spatial accuracy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Static graph; no dynamic updates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58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4</a:t>
                      </a:r>
                      <a:endParaRPr lang="en-US" sz="1400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Emerging Stock Market Prediction Using GRU Algorithm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Alsheebah &amp; Al-Fuhaidi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hlinkClick r:id="rId5"/>
                        </a:rPr>
                        <a:t>https://ieeexplore.ieee.org/abstract/document/10637406</a:t>
                      </a:r>
                      <a:endParaRPr lang="en-US" sz="1400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GRU with exogenous data (oil, gold, FX); correlation filtering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MAPE reduced from 0.74 → 0.16; improved forecasting accuracy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No sentiment or real-time data; limited to 3 indices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58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5</a:t>
                      </a:r>
                      <a:endParaRPr lang="en-US" sz="1400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A Hybrid GCN–LSTM Algorithm for Energy Stock Price Prediction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Amiri et al.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hlinkClick r:id="rId6"/>
                        </a:rPr>
                        <a:t>https://ieeexplore.ieee.org/abstract/document/10858154</a:t>
                      </a:r>
                      <a:endParaRPr lang="en-US" sz="1400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GCN + Attention-LSTM; DTW correlation matrix; RMSProp optimizer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R² = 0.946; best accuracy for energy stocks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Focused on energy sector only; lacks macroeconomic data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188210">
              <a:lnSpc>
                <a:spcPct val="100000"/>
              </a:lnSpc>
              <a:spcBef>
                <a:spcPts val="130"/>
              </a:spcBef>
            </a:pPr>
            <a:r>
              <a:rPr spc="-35" dirty="0"/>
              <a:t>LITERATURE</a:t>
            </a:r>
            <a:r>
              <a:rPr spc="-204" dirty="0"/>
              <a:t> </a:t>
            </a:r>
            <a:r>
              <a:rPr spc="-10" dirty="0"/>
              <a:t>SURVEY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</a:t>
            </a:r>
            <a:r>
              <a:rPr lang="en-US" spc="-10" dirty="0"/>
              <a:t>0</a:t>
            </a:r>
            <a:r>
              <a:rPr spc="-10" dirty="0"/>
              <a:t>-1</a:t>
            </a:r>
            <a:r>
              <a:rPr lang="en-US" spc="-10" dirty="0"/>
              <a:t>1</a:t>
            </a:r>
            <a:r>
              <a:rPr spc="-10"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3886200" y="6451049"/>
            <a:ext cx="1302003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105400" y="6451049"/>
            <a:ext cx="1044273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US" spc="-25" dirty="0"/>
              <a:t>AB2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775" y="1578419"/>
            <a:ext cx="10664825" cy="466069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recent research focuses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(LSTM, GRU, GCN) for stock forecasting.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models show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they need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data and high computation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to explain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limiting real-world financial use.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 highlight the importance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(normalization, scaling, feature engineering).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works use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exogenous 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(oil, FX), improving accuracy but adding complexity.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models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 multi-stock relations but fail in real-time dynamic conditions.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identified: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interpretable, and variance-stabilized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approach.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fills this gap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Log–Power Normalization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 Regression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fast, accurate, and interpretable predictions.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856230">
              <a:lnSpc>
                <a:spcPct val="100000"/>
              </a:lnSpc>
              <a:spcBef>
                <a:spcPts val="130"/>
              </a:spcBef>
            </a:pPr>
            <a:r>
              <a:rPr dirty="0"/>
              <a:t>RESEARCH</a:t>
            </a:r>
            <a:r>
              <a:rPr spc="-140" dirty="0"/>
              <a:t> </a:t>
            </a:r>
            <a:r>
              <a:rPr spc="-20" dirty="0"/>
              <a:t>GAPS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</a:t>
            </a:r>
            <a:r>
              <a:rPr lang="en-US" spc="-10" dirty="0"/>
              <a:t>0</a:t>
            </a:r>
            <a:r>
              <a:rPr spc="-10" dirty="0"/>
              <a:t>-1</a:t>
            </a:r>
            <a:r>
              <a:rPr lang="en-US" spc="-10" dirty="0"/>
              <a:t>1</a:t>
            </a:r>
            <a:r>
              <a:rPr spc="-10"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3965194" y="6465823"/>
            <a:ext cx="122301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188204" y="6451049"/>
            <a:ext cx="96146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US" spc="-25" dirty="0"/>
              <a:t>AB2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3076F8C1-91E2-52AA-386D-EA607C51ED4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6200" y="1447800"/>
            <a:ext cx="7907383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stock prediction models 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but too complex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need more data, time, and expensive hardware.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models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Linear Regression cannot handle big variations in stock prices.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do not focus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stabilizing the variance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financial data.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fluctuations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noise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reduce accuracy and consistency of results.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models work only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specific datasets or countries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not for all markets.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Models rarely include both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preprocessing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explainable prediction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adaptability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missing in most existing research.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Very few methods try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 the data smoother before prediction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clear need for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simple, stable, and interpretable model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gives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with low computation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691018-ECED-32B3-EA8A-312C95656B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2770" y="1524000"/>
            <a:ext cx="4229230" cy="46327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027555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spc="-170" dirty="0"/>
              <a:t> </a:t>
            </a:r>
            <a:r>
              <a:rPr spc="-50" dirty="0"/>
              <a:t>STATEMENT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</a:t>
            </a:r>
            <a:r>
              <a:rPr lang="en-US" spc="-10" dirty="0"/>
              <a:t>0</a:t>
            </a:r>
            <a:r>
              <a:rPr spc="-10" dirty="0"/>
              <a:t>-1</a:t>
            </a:r>
            <a:r>
              <a:rPr lang="en-US" spc="-10" dirty="0"/>
              <a:t>1</a:t>
            </a:r>
            <a:r>
              <a:rPr spc="-10"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3962400" y="6451049"/>
            <a:ext cx="1225803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257800" y="6451050"/>
            <a:ext cx="10668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US" spc="-25" dirty="0"/>
              <a:t>AB2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FA48BFA-7931-EF35-6560-A5E891FD6DE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1773" y="1483468"/>
            <a:ext cx="12115800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Stock market prices change very fast and 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highly unpredictable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models cannot handle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variations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noisy stock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like LSTM and GRU give good results but 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slow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 to explain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models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 not make the data stable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before prediction.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Unstable (high-variance)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leads to inaccurate forecasts.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model that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simple, fast, and still highly accurate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project focuses on making data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smooth and stable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before prediction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 and Power Transformations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After stabilizing the data,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Ridge Regression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used to make accurate and easy-to-understand predictions.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helps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errors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 reliability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transparency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stock prediction.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4544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</a:t>
            </a:r>
            <a:r>
              <a:rPr lang="en-US" spc="-10" dirty="0"/>
              <a:t>0</a:t>
            </a:r>
            <a:r>
              <a:rPr spc="-10" dirty="0"/>
              <a:t>-1</a:t>
            </a:r>
            <a:r>
              <a:rPr lang="en-US" spc="-10" dirty="0"/>
              <a:t>1</a:t>
            </a:r>
            <a:r>
              <a:rPr spc="-10"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3962400" y="6451049"/>
            <a:ext cx="1225803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188204" y="6451049"/>
            <a:ext cx="9614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US" spc="-25" dirty="0"/>
              <a:t>AB2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EA2823F-F576-4D1B-BF74-E63BFE94848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30926" y="1447800"/>
            <a:ext cx="11887200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make stock data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stable and smooth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before prediction.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apply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 and Power Transformations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remove noise and big variations in stock prices.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use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Ridge Regression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accurate and simple stock price prediction.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build a model that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fast, easy to understand, and reliable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prediction error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 accuracy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results.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system that works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 financial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efficiently.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create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low-cost and transparent model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compared to deep learning methods.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help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investors and analysts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make better financial decisions.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prove that simple models can perform well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 data preprocessing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achieve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R² value above 0.97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consistent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pPr marL="360045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BLOCK</a:t>
            </a:r>
            <a:r>
              <a:rPr sz="3950" spc="60" dirty="0"/>
              <a:t> </a:t>
            </a:r>
            <a:r>
              <a:rPr sz="3950" dirty="0"/>
              <a:t>DIAGRAM</a:t>
            </a:r>
            <a:r>
              <a:rPr sz="3950" spc="90" dirty="0"/>
              <a:t> </a:t>
            </a:r>
            <a:r>
              <a:rPr sz="3950" dirty="0"/>
              <a:t>OR</a:t>
            </a:r>
            <a:r>
              <a:rPr sz="3950" spc="70" dirty="0"/>
              <a:t> </a:t>
            </a:r>
            <a:r>
              <a:rPr sz="3950" dirty="0"/>
              <a:t>FLOW</a:t>
            </a:r>
            <a:r>
              <a:rPr sz="3950" spc="-60" dirty="0"/>
              <a:t> </a:t>
            </a:r>
            <a:r>
              <a:rPr sz="3950" spc="-10" dirty="0"/>
              <a:t>DIAGRAM</a:t>
            </a:r>
            <a:endParaRPr sz="395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</a:t>
            </a:r>
            <a:r>
              <a:rPr lang="en-US" spc="-10" dirty="0"/>
              <a:t>0</a:t>
            </a:r>
            <a:r>
              <a:rPr spc="-10" dirty="0"/>
              <a:t>-1</a:t>
            </a:r>
            <a:r>
              <a:rPr lang="en-US" spc="-10" dirty="0"/>
              <a:t>1</a:t>
            </a:r>
            <a:r>
              <a:rPr spc="-10"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038600" y="6451049"/>
            <a:ext cx="1149603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000070" y="6451050"/>
            <a:ext cx="1149603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US" spc="-25" dirty="0"/>
              <a:t>AB2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EDFEC2-2B6B-E606-69D3-00B1AC6B9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483468"/>
            <a:ext cx="7467600" cy="48411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1020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METHODOLOGY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</a:t>
            </a:r>
            <a:r>
              <a:rPr lang="en-US" spc="-10" dirty="0"/>
              <a:t>0</a:t>
            </a:r>
            <a:r>
              <a:rPr spc="-10" dirty="0"/>
              <a:t>-1</a:t>
            </a:r>
            <a:r>
              <a:rPr lang="en-US" spc="-10" dirty="0"/>
              <a:t>1</a:t>
            </a:r>
            <a:r>
              <a:rPr spc="-10"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038600" y="6451049"/>
            <a:ext cx="1149603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105400" y="6451049"/>
            <a:ext cx="1044273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US" spc="-25" dirty="0"/>
              <a:t>AB2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36D7746-879C-834D-9933-D7D54F52846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2400" y="1752600"/>
            <a:ext cx="820405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follows simple steps to predict stock prices accurately.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Stock data (Open, High, Low, Close, Volume)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collected from online sources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and errors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removed from the dataset.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 Transformation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applied to reduce big changes in stock prices.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Transformation (Yeo–Johnson)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used to make the data smoother.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 all features have equal importance.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cleaned and transformed data is given to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Ridge Regression model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learns from past data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 future stock prices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predictions are tested and compared with actual values.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 is measured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R², MSE, and MAE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values.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Finally,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graphs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 how close the predicted prices are to real prices.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B8B73F-4E30-1DA8-8B89-7CD2C0ABBA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6459" y="1476937"/>
            <a:ext cx="3773852" cy="49588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595880">
              <a:lnSpc>
                <a:spcPct val="100000"/>
              </a:lnSpc>
              <a:spcBef>
                <a:spcPts val="130"/>
              </a:spcBef>
            </a:pPr>
            <a:r>
              <a:rPr spc="-45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</a:t>
            </a:r>
            <a:r>
              <a:rPr lang="en-US" spc="-10" dirty="0"/>
              <a:t>0</a:t>
            </a:r>
            <a:r>
              <a:rPr spc="-10" dirty="0"/>
              <a:t>-1</a:t>
            </a:r>
            <a:r>
              <a:rPr lang="en-US" spc="-10" dirty="0"/>
              <a:t>1</a:t>
            </a:r>
            <a:r>
              <a:rPr spc="-10"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3733800" y="6451048"/>
            <a:ext cx="1454403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993482" y="6451049"/>
            <a:ext cx="115619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US" spc="-25" dirty="0"/>
              <a:t>AB2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99492A0-32CE-0F33-1251-99B9117D5B9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54141" y="1172289"/>
            <a:ext cx="11146537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implemented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 language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its simplicity and strong library support.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development environment used is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Notebook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(VS Code)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Important libraries used: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Stock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collected from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Yahoo Finance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Kaggle datasets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and historical analysis.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cleaned and preprocessed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removing missing values and outliers for better accuracy.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 and Yeo–Johnson Power Transformations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applied to make the data stable and reduce variance.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used to bring all features to the same scale before training the model.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Ridge Regression model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trained on 80% of the data and tested on 20%, achieving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R² ≈ 0.99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→ solved using interpolation.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Overfitting → solved using Ridge regularization.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variance → solved by sequential transformations.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 Software setup: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 3.10+,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/VS Code, Windows/Linux OS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Intel i5/i7 processor, 8–16 GB RAM, SSD storage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494091" y="338931"/>
            <a:ext cx="5867400" cy="68874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>
              <a:spcBef>
                <a:spcPts val="91"/>
              </a:spcBef>
            </a:pPr>
            <a:r>
              <a:rPr spc="-91" dirty="0"/>
              <a:t>RESULTS</a:t>
            </a:r>
            <a:r>
              <a:rPr spc="-213" dirty="0"/>
              <a:t> </a:t>
            </a:r>
            <a:r>
              <a:rPr spc="-36" dirty="0"/>
              <a:t>&amp;</a:t>
            </a:r>
            <a:r>
              <a:rPr spc="-467" dirty="0"/>
              <a:t> </a:t>
            </a:r>
            <a:r>
              <a:rPr spc="-177" dirty="0"/>
              <a:t>ANALYSIS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371600" y="1524000"/>
            <a:ext cx="3640503" cy="91720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287587" indent="-276060">
              <a:spcBef>
                <a:spcPts val="91"/>
              </a:spcBef>
              <a:buChar char="•"/>
              <a:tabLst>
                <a:tab pos="287587" algn="l"/>
              </a:tabLst>
            </a:pPr>
            <a:r>
              <a:rPr sz="2042" spc="-68" dirty="0">
                <a:latin typeface="Calibri"/>
                <a:cs typeface="Calibri"/>
              </a:rPr>
              <a:t>Ridge </a:t>
            </a:r>
            <a:r>
              <a:rPr sz="2042" spc="-73" dirty="0">
                <a:latin typeface="Calibri"/>
                <a:cs typeface="Calibri"/>
              </a:rPr>
              <a:t>Regression</a:t>
            </a:r>
            <a:r>
              <a:rPr sz="2042" spc="-23" dirty="0">
                <a:latin typeface="Calibri"/>
                <a:cs typeface="Calibri"/>
              </a:rPr>
              <a:t> </a:t>
            </a:r>
            <a:r>
              <a:rPr sz="2042" spc="-82" dirty="0">
                <a:latin typeface="Calibri"/>
                <a:cs typeface="Calibri"/>
              </a:rPr>
              <a:t>model</a:t>
            </a:r>
            <a:r>
              <a:rPr sz="2042" spc="-177" dirty="0">
                <a:latin typeface="Calibri"/>
                <a:cs typeface="Calibri"/>
              </a:rPr>
              <a:t> </a:t>
            </a:r>
            <a:r>
              <a:rPr sz="2042" spc="-9" dirty="0">
                <a:latin typeface="Calibri"/>
                <a:cs typeface="Calibri"/>
              </a:rPr>
              <a:t>achieved</a:t>
            </a:r>
            <a:endParaRPr sz="2042" dirty="0">
              <a:latin typeface="Calibri"/>
              <a:cs typeface="Calibri"/>
            </a:endParaRPr>
          </a:p>
          <a:p>
            <a:pPr marL="299690">
              <a:spcBef>
                <a:spcPts val="23"/>
              </a:spcBef>
            </a:pPr>
            <a:r>
              <a:rPr sz="1906" spc="-18" dirty="0">
                <a:latin typeface="Calibri"/>
                <a:cs typeface="Calibri"/>
              </a:rPr>
              <a:t>very</a:t>
            </a:r>
            <a:r>
              <a:rPr sz="1906" spc="-36" dirty="0">
                <a:latin typeface="Calibri"/>
                <a:cs typeface="Calibri"/>
              </a:rPr>
              <a:t> </a:t>
            </a:r>
            <a:r>
              <a:rPr sz="1906" dirty="0">
                <a:latin typeface="Calibri"/>
                <a:cs typeface="Calibri"/>
              </a:rPr>
              <a:t>high</a:t>
            </a:r>
            <a:r>
              <a:rPr sz="1906" spc="-64" dirty="0">
                <a:latin typeface="Calibri"/>
                <a:cs typeface="Calibri"/>
              </a:rPr>
              <a:t> </a:t>
            </a:r>
            <a:r>
              <a:rPr sz="1906" dirty="0">
                <a:latin typeface="Calibri"/>
                <a:cs typeface="Calibri"/>
              </a:rPr>
              <a:t>accuracy</a:t>
            </a:r>
            <a:r>
              <a:rPr sz="1906" spc="45" dirty="0">
                <a:latin typeface="Calibri"/>
                <a:cs typeface="Calibri"/>
              </a:rPr>
              <a:t> </a:t>
            </a:r>
            <a:r>
              <a:rPr sz="1906" spc="-9" dirty="0">
                <a:latin typeface="Calibri"/>
                <a:cs typeface="Calibri"/>
              </a:rPr>
              <a:t>across</a:t>
            </a:r>
            <a:r>
              <a:rPr sz="1906" spc="-91" dirty="0">
                <a:latin typeface="Calibri"/>
                <a:cs typeface="Calibri"/>
              </a:rPr>
              <a:t> </a:t>
            </a:r>
            <a:r>
              <a:rPr sz="1906" dirty="0">
                <a:latin typeface="Calibri"/>
                <a:cs typeface="Calibri"/>
              </a:rPr>
              <a:t>26</a:t>
            </a:r>
            <a:r>
              <a:rPr sz="1906" spc="-64" dirty="0">
                <a:latin typeface="Calibri"/>
                <a:cs typeface="Calibri"/>
              </a:rPr>
              <a:t> </a:t>
            </a:r>
            <a:r>
              <a:rPr sz="1906" spc="-9" dirty="0">
                <a:latin typeface="Calibri"/>
                <a:cs typeface="Calibri"/>
              </a:rPr>
              <a:t>stock</a:t>
            </a:r>
            <a:endParaRPr sz="1906" dirty="0">
              <a:latin typeface="Calibri"/>
              <a:cs typeface="Calibri"/>
            </a:endParaRPr>
          </a:p>
          <a:p>
            <a:pPr marL="292774">
              <a:spcBef>
                <a:spcPts val="195"/>
              </a:spcBef>
            </a:pPr>
            <a:r>
              <a:rPr sz="1770" spc="-9" dirty="0">
                <a:latin typeface="Calibri"/>
                <a:cs typeface="Calibri"/>
              </a:rPr>
              <a:t>datasets</a:t>
            </a:r>
            <a:endParaRPr sz="177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95400" y="2346035"/>
            <a:ext cx="4648200" cy="4173034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379799" indent="-276060">
              <a:lnSpc>
                <a:spcPts val="2323"/>
              </a:lnSpc>
              <a:spcBef>
                <a:spcPts val="91"/>
              </a:spcBef>
              <a:buChar char="•"/>
              <a:tabLst>
                <a:tab pos="379799" algn="l"/>
              </a:tabLst>
            </a:pPr>
            <a:r>
              <a:rPr sz="1951" spc="-18" dirty="0">
                <a:latin typeface="Calibri"/>
                <a:cs typeface="Calibri"/>
              </a:rPr>
              <a:t>Log</a:t>
            </a:r>
            <a:r>
              <a:rPr sz="1951" spc="-86" dirty="0">
                <a:latin typeface="Calibri"/>
                <a:cs typeface="Calibri"/>
              </a:rPr>
              <a:t> </a:t>
            </a:r>
            <a:r>
              <a:rPr sz="1951" spc="-41" dirty="0">
                <a:latin typeface="Calibri"/>
                <a:cs typeface="Calibri"/>
              </a:rPr>
              <a:t>and</a:t>
            </a:r>
            <a:r>
              <a:rPr sz="1951" spc="-109" dirty="0">
                <a:latin typeface="Calibri"/>
                <a:cs typeface="Calibri"/>
              </a:rPr>
              <a:t> </a:t>
            </a:r>
            <a:r>
              <a:rPr sz="1951" spc="-213" dirty="0">
                <a:latin typeface="Calibri"/>
                <a:cs typeface="Calibri"/>
              </a:rPr>
              <a:t>Veo—</a:t>
            </a:r>
            <a:r>
              <a:rPr sz="1951" spc="-109" dirty="0">
                <a:latin typeface="Calibri"/>
                <a:cs typeface="Calibri"/>
              </a:rPr>
              <a:t>Johnson</a:t>
            </a:r>
            <a:r>
              <a:rPr sz="1951" spc="50" dirty="0">
                <a:latin typeface="Calibri"/>
                <a:cs typeface="Calibri"/>
              </a:rPr>
              <a:t> </a:t>
            </a:r>
            <a:r>
              <a:rPr sz="1951" spc="-9" dirty="0">
                <a:latin typeface="Calibri"/>
                <a:cs typeface="Calibri"/>
              </a:rPr>
              <a:t>transformations</a:t>
            </a:r>
            <a:endParaRPr sz="1951" dirty="0">
              <a:latin typeface="Calibri"/>
              <a:cs typeface="Calibri"/>
            </a:endParaRPr>
          </a:p>
          <a:p>
            <a:pPr marL="382104">
              <a:lnSpc>
                <a:spcPts val="2378"/>
              </a:lnSpc>
            </a:pPr>
            <a:r>
              <a:rPr sz="1997" spc="-95" dirty="0">
                <a:latin typeface="Calibri"/>
                <a:cs typeface="Calibri"/>
              </a:rPr>
              <a:t>were</a:t>
            </a:r>
            <a:r>
              <a:rPr sz="1997" spc="-132" dirty="0">
                <a:latin typeface="Calibri"/>
                <a:cs typeface="Calibri"/>
              </a:rPr>
              <a:t> </a:t>
            </a:r>
            <a:r>
              <a:rPr sz="1997" spc="-41" dirty="0">
                <a:latin typeface="Calibri"/>
                <a:cs typeface="Calibri"/>
              </a:rPr>
              <a:t>applied</a:t>
            </a:r>
            <a:r>
              <a:rPr sz="1997" spc="-95" dirty="0">
                <a:latin typeface="Calibri"/>
                <a:cs typeface="Calibri"/>
              </a:rPr>
              <a:t> </a:t>
            </a:r>
            <a:r>
              <a:rPr sz="1997" spc="-50" dirty="0">
                <a:latin typeface="Calibri"/>
                <a:cs typeface="Calibri"/>
              </a:rPr>
              <a:t>to</a:t>
            </a:r>
            <a:r>
              <a:rPr sz="1997" spc="-100" dirty="0">
                <a:latin typeface="Calibri"/>
                <a:cs typeface="Calibri"/>
              </a:rPr>
              <a:t> </a:t>
            </a:r>
            <a:r>
              <a:rPr sz="1997" spc="-36" dirty="0">
                <a:latin typeface="Calibri"/>
                <a:cs typeface="Calibri"/>
              </a:rPr>
              <a:t>stabilize</a:t>
            </a:r>
            <a:r>
              <a:rPr sz="1997" spc="9" dirty="0">
                <a:latin typeface="Calibri"/>
                <a:cs typeface="Calibri"/>
              </a:rPr>
              <a:t> </a:t>
            </a:r>
            <a:r>
              <a:rPr sz="1997" spc="-9" dirty="0">
                <a:latin typeface="Calibri"/>
                <a:cs typeface="Calibri"/>
              </a:rPr>
              <a:t>variance</a:t>
            </a:r>
            <a:endParaRPr sz="1997" dirty="0">
              <a:latin typeface="Calibri"/>
              <a:cs typeface="Calibri"/>
            </a:endParaRPr>
          </a:p>
          <a:p>
            <a:pPr marL="378646" marR="611482" indent="-269144">
              <a:lnSpc>
                <a:spcPct val="101800"/>
              </a:lnSpc>
              <a:spcBef>
                <a:spcPts val="45"/>
              </a:spcBef>
              <a:buChar char="•"/>
              <a:tabLst>
                <a:tab pos="384986" algn="l"/>
              </a:tabLst>
            </a:pPr>
            <a:r>
              <a:rPr sz="1906" spc="-32" dirty="0">
                <a:latin typeface="Calibri"/>
                <a:cs typeface="Calibri"/>
              </a:rPr>
              <a:t>Average</a:t>
            </a:r>
            <a:r>
              <a:rPr sz="1906" spc="-77" dirty="0">
                <a:latin typeface="Calibri"/>
                <a:cs typeface="Calibri"/>
              </a:rPr>
              <a:t> </a:t>
            </a:r>
            <a:r>
              <a:rPr sz="1906" dirty="0">
                <a:latin typeface="Calibri"/>
                <a:cs typeface="Calibri"/>
              </a:rPr>
              <a:t>R</a:t>
            </a:r>
            <a:r>
              <a:rPr sz="1974" baseline="28735" dirty="0">
                <a:latin typeface="Calibri"/>
                <a:cs typeface="Calibri"/>
              </a:rPr>
              <a:t>2</a:t>
            </a:r>
            <a:r>
              <a:rPr sz="1974" spc="136" baseline="28735" dirty="0">
                <a:latin typeface="Calibri"/>
                <a:cs typeface="Calibri"/>
              </a:rPr>
              <a:t> </a:t>
            </a:r>
            <a:r>
              <a:rPr sz="1906" spc="-18" dirty="0">
                <a:latin typeface="Calibri"/>
                <a:cs typeface="Calibri"/>
              </a:rPr>
              <a:t>score</a:t>
            </a:r>
            <a:r>
              <a:rPr sz="1906" spc="-100" dirty="0">
                <a:latin typeface="Calibri"/>
                <a:cs typeface="Calibri"/>
              </a:rPr>
              <a:t> </a:t>
            </a:r>
            <a:r>
              <a:rPr sz="1906" dirty="0">
                <a:latin typeface="Calibri"/>
                <a:cs typeface="Calibri"/>
              </a:rPr>
              <a:t>above</a:t>
            </a:r>
            <a:r>
              <a:rPr sz="1906" spc="-32" dirty="0">
                <a:latin typeface="Calibri"/>
                <a:cs typeface="Calibri"/>
              </a:rPr>
              <a:t> </a:t>
            </a:r>
            <a:r>
              <a:rPr sz="1906" spc="-9" dirty="0">
                <a:latin typeface="Calibri"/>
                <a:cs typeface="Calibri"/>
              </a:rPr>
              <a:t>0.9999, 	</a:t>
            </a:r>
            <a:r>
              <a:rPr sz="1906" dirty="0">
                <a:latin typeface="Calibri"/>
                <a:cs typeface="Calibri"/>
              </a:rPr>
              <a:t>indicatiug</a:t>
            </a:r>
            <a:r>
              <a:rPr sz="1906" spc="-9" dirty="0">
                <a:latin typeface="Calibri"/>
                <a:cs typeface="Calibri"/>
              </a:rPr>
              <a:t> </a:t>
            </a:r>
            <a:r>
              <a:rPr sz="1906" spc="-64" dirty="0">
                <a:latin typeface="Calibri"/>
                <a:cs typeface="Calibri"/>
              </a:rPr>
              <a:t>near-</a:t>
            </a:r>
            <a:r>
              <a:rPr sz="1906" spc="-18" dirty="0">
                <a:latin typeface="Calibri"/>
                <a:cs typeface="Calibri"/>
              </a:rPr>
              <a:t>perfect</a:t>
            </a:r>
            <a:r>
              <a:rPr sz="1906" spc="-41" dirty="0">
                <a:latin typeface="Calibri"/>
                <a:cs typeface="Calibri"/>
              </a:rPr>
              <a:t> </a:t>
            </a:r>
            <a:r>
              <a:rPr sz="1906" spc="-9" dirty="0">
                <a:latin typeface="Calibri"/>
                <a:cs typeface="Calibri"/>
              </a:rPr>
              <a:t>prediction</a:t>
            </a:r>
            <a:endParaRPr sz="1906" dirty="0">
              <a:latin typeface="Calibri"/>
              <a:cs typeface="Calibri"/>
            </a:endParaRPr>
          </a:p>
          <a:p>
            <a:pPr marL="380951" indent="-270297">
              <a:lnSpc>
                <a:spcPts val="2237"/>
              </a:lnSpc>
              <a:buChar char="•"/>
              <a:tabLst>
                <a:tab pos="380951" algn="l"/>
              </a:tabLst>
            </a:pPr>
            <a:r>
              <a:rPr sz="1906" spc="-9" dirty="0">
                <a:latin typeface="Calibri"/>
                <a:cs typeface="Calibri"/>
              </a:rPr>
              <a:t>MSE</a:t>
            </a:r>
            <a:r>
              <a:rPr sz="1906" spc="-109" dirty="0">
                <a:latin typeface="Calibri"/>
                <a:cs typeface="Calibri"/>
              </a:rPr>
              <a:t> </a:t>
            </a:r>
            <a:r>
              <a:rPr sz="1906" spc="-9" dirty="0">
                <a:latin typeface="Calibri"/>
                <a:cs typeface="Calibri"/>
              </a:rPr>
              <a:t>values</a:t>
            </a:r>
            <a:r>
              <a:rPr sz="1906" spc="-77" dirty="0">
                <a:latin typeface="Calibri"/>
                <a:cs typeface="Calibri"/>
              </a:rPr>
              <a:t> </a:t>
            </a:r>
            <a:r>
              <a:rPr sz="1906" spc="-54" dirty="0">
                <a:latin typeface="Calibri"/>
                <a:cs typeface="Calibri"/>
              </a:rPr>
              <a:t>were</a:t>
            </a:r>
            <a:r>
              <a:rPr sz="1906" spc="-103" dirty="0">
                <a:latin typeface="Calibri"/>
                <a:cs typeface="Calibri"/>
              </a:rPr>
              <a:t> </a:t>
            </a:r>
            <a:r>
              <a:rPr sz="1906" spc="-32" dirty="0">
                <a:latin typeface="Calibri"/>
                <a:cs typeface="Calibri"/>
              </a:rPr>
              <a:t>extremely</a:t>
            </a:r>
            <a:r>
              <a:rPr sz="1906" spc="-23" dirty="0">
                <a:latin typeface="Calibri"/>
                <a:cs typeface="Calibri"/>
              </a:rPr>
              <a:t> </a:t>
            </a:r>
            <a:r>
              <a:rPr sz="1906" spc="-18" dirty="0">
                <a:latin typeface="Calibri"/>
                <a:cs typeface="Calibri"/>
              </a:rPr>
              <a:t>low</a:t>
            </a:r>
            <a:r>
              <a:rPr sz="1906" spc="-86" dirty="0">
                <a:latin typeface="Calibri"/>
                <a:cs typeface="Calibri"/>
              </a:rPr>
              <a:t> </a:t>
            </a:r>
            <a:r>
              <a:rPr sz="1906" spc="-9" dirty="0">
                <a:latin typeface="Calibri"/>
                <a:cs typeface="Calibri"/>
              </a:rPr>
              <a:t>(2,70"</a:t>
            </a:r>
            <a:r>
              <a:rPr sz="2042" spc="-14" baseline="27777" dirty="0">
                <a:latin typeface="Calibri"/>
                <a:cs typeface="Calibri"/>
              </a:rPr>
              <a:t>5</a:t>
            </a:r>
            <a:endParaRPr sz="2042" baseline="27777" dirty="0">
              <a:latin typeface="Calibri"/>
              <a:cs typeface="Calibri"/>
            </a:endParaRPr>
          </a:p>
          <a:p>
            <a:pPr marL="384986">
              <a:lnSpc>
                <a:spcPts val="2319"/>
              </a:lnSpc>
            </a:pPr>
            <a:r>
              <a:rPr sz="1951" spc="-36" dirty="0">
                <a:latin typeface="Calibri"/>
                <a:cs typeface="Calibri"/>
              </a:rPr>
              <a:t>to</a:t>
            </a:r>
            <a:r>
              <a:rPr sz="1951" spc="-123" dirty="0">
                <a:latin typeface="Calibri"/>
                <a:cs typeface="Calibri"/>
              </a:rPr>
              <a:t> </a:t>
            </a:r>
            <a:r>
              <a:rPr sz="1951" dirty="0">
                <a:latin typeface="Calibri"/>
                <a:cs typeface="Calibri"/>
              </a:rPr>
              <a:t>4.2x10</a:t>
            </a:r>
            <a:r>
              <a:rPr sz="1951" spc="245" dirty="0">
                <a:latin typeface="Calibri"/>
                <a:cs typeface="Calibri"/>
              </a:rPr>
              <a:t> </a:t>
            </a:r>
            <a:r>
              <a:rPr sz="1974" spc="-34" baseline="30651" dirty="0">
                <a:latin typeface="Calibri"/>
                <a:cs typeface="Calibri"/>
              </a:rPr>
              <a:t>5</a:t>
            </a:r>
            <a:r>
              <a:rPr sz="1951" spc="-23" dirty="0">
                <a:latin typeface="Calibri"/>
                <a:cs typeface="Calibri"/>
              </a:rPr>
              <a:t>).</a:t>
            </a:r>
            <a:endParaRPr sz="1951" dirty="0">
              <a:latin typeface="Calibri"/>
              <a:cs typeface="Calibri"/>
            </a:endParaRPr>
          </a:p>
          <a:p>
            <a:pPr marL="380375" indent="-276636">
              <a:lnSpc>
                <a:spcPts val="2328"/>
              </a:lnSpc>
              <a:buChar char="•"/>
              <a:tabLst>
                <a:tab pos="380375" algn="l"/>
              </a:tabLst>
            </a:pPr>
            <a:r>
              <a:rPr sz="1951" spc="-54" dirty="0">
                <a:latin typeface="Calibri"/>
                <a:cs typeface="Calibri"/>
              </a:rPr>
              <a:t>MAE</a:t>
            </a:r>
            <a:r>
              <a:rPr sz="1951" spc="-91" dirty="0">
                <a:latin typeface="Calibri"/>
                <a:cs typeface="Calibri"/>
              </a:rPr>
              <a:t> </a:t>
            </a:r>
            <a:r>
              <a:rPr sz="1951" spc="-36" dirty="0">
                <a:latin typeface="Calibri"/>
                <a:cs typeface="Calibri"/>
              </a:rPr>
              <a:t>remained</a:t>
            </a:r>
            <a:r>
              <a:rPr sz="1951" spc="-45" dirty="0">
                <a:latin typeface="Calibri"/>
                <a:cs typeface="Calibri"/>
              </a:rPr>
              <a:t> </a:t>
            </a:r>
            <a:r>
              <a:rPr sz="1951" spc="-54" dirty="0">
                <a:latin typeface="Calibri"/>
                <a:cs typeface="Calibri"/>
              </a:rPr>
              <a:t>below</a:t>
            </a:r>
            <a:r>
              <a:rPr sz="1951" spc="-23" dirty="0">
                <a:latin typeface="Calibri"/>
                <a:cs typeface="Calibri"/>
              </a:rPr>
              <a:t> </a:t>
            </a:r>
            <a:r>
              <a:rPr sz="1951" spc="-59" dirty="0">
                <a:latin typeface="Calibri"/>
                <a:cs typeface="Calibri"/>
              </a:rPr>
              <a:t>0.006,</a:t>
            </a:r>
            <a:r>
              <a:rPr sz="1951" spc="-91" dirty="0">
                <a:latin typeface="Calibri"/>
                <a:cs typeface="Calibri"/>
              </a:rPr>
              <a:t> </a:t>
            </a:r>
            <a:r>
              <a:rPr sz="1951" spc="-9" dirty="0">
                <a:latin typeface="Calibri"/>
                <a:cs typeface="Calibri"/>
              </a:rPr>
              <a:t>showing</a:t>
            </a:r>
            <a:endParaRPr sz="1951" dirty="0">
              <a:latin typeface="Calibri"/>
              <a:cs typeface="Calibri"/>
            </a:endParaRPr>
          </a:p>
          <a:p>
            <a:pPr marL="383257">
              <a:spcBef>
                <a:spcPts val="23"/>
              </a:spcBef>
            </a:pPr>
            <a:r>
              <a:rPr sz="1906" spc="-18" dirty="0">
                <a:latin typeface="Calibri"/>
                <a:cs typeface="Calibri"/>
              </a:rPr>
              <a:t>minimal</a:t>
            </a:r>
            <a:r>
              <a:rPr sz="1906" spc="-103" dirty="0">
                <a:latin typeface="Calibri"/>
                <a:cs typeface="Calibri"/>
              </a:rPr>
              <a:t> </a:t>
            </a:r>
            <a:r>
              <a:rPr sz="1906" spc="-9" dirty="0">
                <a:latin typeface="Calibri"/>
                <a:cs typeface="Calibri"/>
              </a:rPr>
              <a:t>prediction</a:t>
            </a:r>
            <a:r>
              <a:rPr sz="1906" spc="-5" dirty="0">
                <a:latin typeface="Calibri"/>
                <a:cs typeface="Calibri"/>
              </a:rPr>
              <a:t> </a:t>
            </a:r>
            <a:r>
              <a:rPr sz="1906" spc="-9" dirty="0">
                <a:latin typeface="Calibri"/>
                <a:cs typeface="Calibri"/>
              </a:rPr>
              <a:t>error.</a:t>
            </a:r>
            <a:endParaRPr sz="1906" dirty="0">
              <a:latin typeface="Calibri"/>
              <a:cs typeface="Calibri"/>
            </a:endParaRPr>
          </a:p>
          <a:p>
            <a:pPr marL="380951" marR="318132" indent="-270873">
              <a:lnSpc>
                <a:spcPct val="101600"/>
              </a:lnSpc>
              <a:spcBef>
                <a:spcPts val="41"/>
              </a:spcBef>
              <a:buChar char="•"/>
              <a:tabLst>
                <a:tab pos="380951" algn="l"/>
              </a:tabLst>
            </a:pPr>
            <a:r>
              <a:rPr sz="1906" spc="-9" dirty="0">
                <a:latin typeface="Calibri"/>
                <a:cs typeface="Calibri"/>
              </a:rPr>
              <a:t>Ridge</a:t>
            </a:r>
            <a:r>
              <a:rPr sz="1906" spc="-86" dirty="0">
                <a:latin typeface="Calibri"/>
                <a:cs typeface="Calibri"/>
              </a:rPr>
              <a:t> </a:t>
            </a:r>
            <a:r>
              <a:rPr sz="1906" spc="-32" dirty="0">
                <a:latin typeface="Calibri"/>
                <a:cs typeface="Calibri"/>
              </a:rPr>
              <a:t>outperformed</a:t>
            </a:r>
            <a:r>
              <a:rPr sz="1906" spc="5" dirty="0">
                <a:latin typeface="Calibri"/>
                <a:cs typeface="Calibri"/>
              </a:rPr>
              <a:t> </a:t>
            </a:r>
            <a:r>
              <a:rPr sz="1906" spc="-27" dirty="0">
                <a:latin typeface="Calibri"/>
                <a:cs typeface="Calibri"/>
              </a:rPr>
              <a:t>Linear,</a:t>
            </a:r>
            <a:r>
              <a:rPr sz="1906" spc="-86" dirty="0">
                <a:latin typeface="Calibri"/>
                <a:cs typeface="Calibri"/>
              </a:rPr>
              <a:t> </a:t>
            </a:r>
            <a:r>
              <a:rPr sz="1906" dirty="0">
                <a:latin typeface="Calibri"/>
                <a:cs typeface="Calibri"/>
              </a:rPr>
              <a:t>SVR,</a:t>
            </a:r>
            <a:r>
              <a:rPr sz="1906" spc="-27" dirty="0">
                <a:latin typeface="Calibri"/>
                <a:cs typeface="Calibri"/>
              </a:rPr>
              <a:t> </a:t>
            </a:r>
            <a:r>
              <a:rPr sz="1906" spc="-23" dirty="0">
                <a:latin typeface="Calibri"/>
                <a:cs typeface="Calibri"/>
              </a:rPr>
              <a:t>and </a:t>
            </a:r>
            <a:r>
              <a:rPr sz="1906" spc="-18" dirty="0">
                <a:latin typeface="Calibri"/>
                <a:cs typeface="Calibri"/>
              </a:rPr>
              <a:t>Neural</a:t>
            </a:r>
            <a:r>
              <a:rPr sz="1906" spc="-123" dirty="0">
                <a:latin typeface="Calibri"/>
                <a:cs typeface="Calibri"/>
              </a:rPr>
              <a:t> </a:t>
            </a:r>
            <a:r>
              <a:rPr sz="1906" spc="-27" dirty="0">
                <a:latin typeface="Calibri"/>
                <a:cs typeface="Calibri"/>
              </a:rPr>
              <a:t>Network</a:t>
            </a:r>
            <a:r>
              <a:rPr sz="1906" spc="-36" dirty="0">
                <a:latin typeface="Calibri"/>
                <a:cs typeface="Calibri"/>
              </a:rPr>
              <a:t> </a:t>
            </a:r>
            <a:r>
              <a:rPr sz="1906" spc="-9" dirty="0">
                <a:latin typeface="Calibri"/>
                <a:cs typeface="Calibri"/>
              </a:rPr>
              <a:t>models</a:t>
            </a:r>
            <a:endParaRPr sz="1906" dirty="0">
              <a:latin typeface="Calibri"/>
              <a:cs typeface="Calibri"/>
            </a:endParaRPr>
          </a:p>
          <a:p>
            <a:pPr marL="390173" indent="-280094">
              <a:lnSpc>
                <a:spcPts val="2255"/>
              </a:lnSpc>
              <a:buChar char="•"/>
              <a:tabLst>
                <a:tab pos="390173" algn="l"/>
              </a:tabLst>
            </a:pPr>
            <a:r>
              <a:rPr sz="1951" spc="-45" dirty="0">
                <a:latin typeface="Calibri"/>
                <a:cs typeface="Calibri"/>
              </a:rPr>
              <a:t>Graphs</a:t>
            </a:r>
            <a:r>
              <a:rPr sz="1951" spc="-82" dirty="0">
                <a:latin typeface="Calibri"/>
                <a:cs typeface="Calibri"/>
              </a:rPr>
              <a:t> </a:t>
            </a:r>
            <a:r>
              <a:rPr sz="1951" spc="-45" dirty="0">
                <a:latin typeface="Calibri"/>
                <a:cs typeface="Calibri"/>
              </a:rPr>
              <a:t>showed</a:t>
            </a:r>
            <a:r>
              <a:rPr sz="1951" spc="-14" dirty="0">
                <a:latin typeface="Calibri"/>
                <a:cs typeface="Calibri"/>
              </a:rPr>
              <a:t> </a:t>
            </a:r>
            <a:r>
              <a:rPr sz="1951" spc="-54" dirty="0">
                <a:latin typeface="Calibri"/>
                <a:cs typeface="Calibri"/>
              </a:rPr>
              <a:t>predicted</a:t>
            </a:r>
            <a:r>
              <a:rPr sz="1951" spc="-73" dirty="0">
                <a:latin typeface="Calibri"/>
                <a:cs typeface="Calibri"/>
              </a:rPr>
              <a:t> </a:t>
            </a:r>
            <a:r>
              <a:rPr sz="1951" spc="-9" dirty="0">
                <a:latin typeface="Calibri"/>
                <a:cs typeface="Calibri"/>
              </a:rPr>
              <a:t>prices</a:t>
            </a:r>
            <a:endParaRPr sz="1951" dirty="0">
              <a:latin typeface="Calibri"/>
              <a:cs typeface="Calibri"/>
            </a:endParaRPr>
          </a:p>
          <a:p>
            <a:pPr marL="384409">
              <a:lnSpc>
                <a:spcPts val="2287"/>
              </a:lnSpc>
              <a:spcBef>
                <a:spcPts val="32"/>
              </a:spcBef>
            </a:pPr>
            <a:r>
              <a:rPr sz="1906" dirty="0">
                <a:latin typeface="Calibri"/>
                <a:cs typeface="Calibri"/>
              </a:rPr>
              <a:t>almost</a:t>
            </a:r>
            <a:r>
              <a:rPr sz="1906" spc="-77" dirty="0">
                <a:latin typeface="Calibri"/>
                <a:cs typeface="Calibri"/>
              </a:rPr>
              <a:t> </a:t>
            </a:r>
            <a:r>
              <a:rPr sz="1906" spc="-32" dirty="0">
                <a:latin typeface="Calibri"/>
                <a:cs typeface="Calibri"/>
              </a:rPr>
              <a:t>overlapped</a:t>
            </a:r>
            <a:r>
              <a:rPr sz="1906" spc="-5" dirty="0">
                <a:latin typeface="Calibri"/>
                <a:cs typeface="Calibri"/>
              </a:rPr>
              <a:t> </a:t>
            </a:r>
            <a:r>
              <a:rPr sz="1906" spc="-9" dirty="0">
                <a:latin typeface="Calibri"/>
                <a:cs typeface="Calibri"/>
              </a:rPr>
              <a:t>actual</a:t>
            </a:r>
            <a:r>
              <a:rPr sz="1906" spc="-109" dirty="0">
                <a:latin typeface="Calibri"/>
                <a:cs typeface="Calibri"/>
              </a:rPr>
              <a:t> </a:t>
            </a:r>
            <a:r>
              <a:rPr sz="1906" spc="-9" dirty="0">
                <a:latin typeface="Calibri"/>
                <a:cs typeface="Calibri"/>
              </a:rPr>
              <a:t>prices</a:t>
            </a:r>
            <a:endParaRPr sz="1906" dirty="0">
              <a:latin typeface="Calibri"/>
              <a:cs typeface="Calibri"/>
            </a:endParaRPr>
          </a:p>
          <a:p>
            <a:pPr marL="380951" indent="-276636">
              <a:lnSpc>
                <a:spcPts val="2287"/>
              </a:lnSpc>
              <a:buChar char="•"/>
              <a:tabLst>
                <a:tab pos="380951" algn="l"/>
              </a:tabLst>
            </a:pPr>
            <a:r>
              <a:rPr sz="1906" spc="-95" dirty="0">
                <a:latin typeface="Calibri"/>
                <a:cs typeface="Calibri"/>
              </a:rPr>
              <a:t>LSTM—</a:t>
            </a:r>
            <a:r>
              <a:rPr sz="1906" dirty="0">
                <a:latin typeface="Calibri"/>
                <a:cs typeface="Calibri"/>
              </a:rPr>
              <a:t>DNN</a:t>
            </a:r>
            <a:r>
              <a:rPr sz="1906" spc="95" dirty="0">
                <a:latin typeface="Calibri"/>
                <a:cs typeface="Calibri"/>
              </a:rPr>
              <a:t> </a:t>
            </a:r>
            <a:r>
              <a:rPr sz="1906" spc="-45" dirty="0">
                <a:latin typeface="Calibri"/>
                <a:cs typeface="Calibri"/>
              </a:rPr>
              <a:t>model</a:t>
            </a:r>
            <a:r>
              <a:rPr sz="1906" spc="-136" dirty="0">
                <a:latin typeface="Calibri"/>
                <a:cs typeface="Calibri"/>
              </a:rPr>
              <a:t> </a:t>
            </a:r>
            <a:r>
              <a:rPr sz="1906" dirty="0">
                <a:latin typeface="Calibri"/>
                <a:cs typeface="Calibri"/>
              </a:rPr>
              <a:t>had</a:t>
            </a:r>
            <a:r>
              <a:rPr sz="1906" spc="-14" dirty="0">
                <a:latin typeface="Calibri"/>
                <a:cs typeface="Calibri"/>
              </a:rPr>
              <a:t> </a:t>
            </a:r>
            <a:r>
              <a:rPr sz="1906" spc="-27" dirty="0">
                <a:latin typeface="Calibri"/>
                <a:cs typeface="Calibri"/>
              </a:rPr>
              <a:t>higher</a:t>
            </a:r>
            <a:r>
              <a:rPr sz="1906" spc="-86" dirty="0">
                <a:latin typeface="Calibri"/>
                <a:cs typeface="Calibri"/>
              </a:rPr>
              <a:t> </a:t>
            </a:r>
            <a:r>
              <a:rPr sz="1906" spc="-23" dirty="0">
                <a:latin typeface="Calibri"/>
                <a:cs typeface="Calibri"/>
              </a:rPr>
              <a:t>MSE</a:t>
            </a:r>
            <a:endParaRPr sz="1906" dirty="0">
              <a:latin typeface="Calibri"/>
              <a:cs typeface="Calibri"/>
            </a:endParaRPr>
          </a:p>
          <a:p>
            <a:pPr marL="384409">
              <a:spcBef>
                <a:spcPts val="213"/>
              </a:spcBef>
            </a:pPr>
            <a:r>
              <a:rPr sz="1861" dirty="0">
                <a:latin typeface="Calibri"/>
                <a:cs typeface="Calibri"/>
              </a:rPr>
              <a:t>and</a:t>
            </a:r>
            <a:r>
              <a:rPr sz="1861" spc="-68" dirty="0">
                <a:latin typeface="Calibri"/>
                <a:cs typeface="Calibri"/>
              </a:rPr>
              <a:t> </a:t>
            </a:r>
            <a:r>
              <a:rPr sz="1861" spc="-9" dirty="0">
                <a:latin typeface="Calibri"/>
                <a:cs typeface="Calibri"/>
              </a:rPr>
              <a:t>MAE,</a:t>
            </a:r>
            <a:r>
              <a:rPr sz="1861" spc="-95" dirty="0">
                <a:latin typeface="Calibri"/>
                <a:cs typeface="Calibri"/>
              </a:rPr>
              <a:t> </a:t>
            </a:r>
            <a:r>
              <a:rPr sz="1861" dirty="0">
                <a:latin typeface="Calibri"/>
                <a:cs typeface="Calibri"/>
              </a:rPr>
              <a:t>lower</a:t>
            </a:r>
            <a:r>
              <a:rPr sz="1861" spc="-5" dirty="0">
                <a:latin typeface="Calibri"/>
                <a:cs typeface="Calibri"/>
              </a:rPr>
              <a:t> </a:t>
            </a:r>
            <a:r>
              <a:rPr sz="1861" spc="-23" dirty="0">
                <a:latin typeface="Calibri"/>
                <a:cs typeface="Calibri"/>
              </a:rPr>
              <a:t>R</a:t>
            </a:r>
            <a:r>
              <a:rPr sz="1974" spc="-34" baseline="28735" dirty="0">
                <a:latin typeface="Calibri"/>
                <a:cs typeface="Calibri"/>
              </a:rPr>
              <a:t>2</a:t>
            </a:r>
            <a:endParaRPr sz="1974" baseline="28735" dirty="0">
              <a:latin typeface="Calibri"/>
              <a:cs typeface="Calibri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1F7E5F5-5746-FFA7-6BDB-2232536BD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13645"/>
            <a:ext cx="6476999" cy="53054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0A9157-C836-3E07-4371-86F8F4B1D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519069"/>
            <a:ext cx="914400" cy="323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F9FC47-CA14-B763-FBAF-840D3680A5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0" y="6534150"/>
            <a:ext cx="1009650" cy="323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29277C-143A-3747-A948-85FB1BB9CD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0675" y="6519069"/>
            <a:ext cx="1085850" cy="323850"/>
          </a:xfrm>
          <a:prstGeom prst="rect">
            <a:avLst/>
          </a:prstGeom>
        </p:spPr>
      </p:pic>
      <p:sp>
        <p:nvSpPr>
          <p:cNvPr id="8" name="object 7">
            <a:extLst>
              <a:ext uri="{FF2B5EF4-FFF2-40B4-BE49-F238E27FC236}">
                <a16:creationId xmlns:a16="http://schemas.microsoft.com/office/drawing/2014/main" id="{3C6C8C43-D530-3513-2453-8F1C4D652D12}"/>
              </a:ext>
            </a:extLst>
          </p:cNvPr>
          <p:cNvSpPr txBox="1"/>
          <p:nvPr/>
        </p:nvSpPr>
        <p:spPr>
          <a:xfrm>
            <a:off x="7086600" y="658383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073288BC-DEB0-2CCB-AF50-EE4746422EE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290300" y="6534150"/>
            <a:ext cx="215900" cy="194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4030526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</a:t>
            </a:r>
            <a:r>
              <a:rPr lang="en-US" spc="-10" dirty="0"/>
              <a:t>0</a:t>
            </a:r>
            <a:r>
              <a:rPr spc="-10" dirty="0"/>
              <a:t>-1</a:t>
            </a:r>
            <a:r>
              <a:rPr lang="en-US" spc="-10" dirty="0"/>
              <a:t>1</a:t>
            </a:r>
            <a:r>
              <a:rPr spc="-10"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3962400" y="6451049"/>
            <a:ext cx="1225803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105400" y="6451050"/>
            <a:ext cx="1044273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US" spc="-25" dirty="0"/>
              <a:t>AB2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pic>
        <p:nvPicPr>
          <p:cNvPr id="13" name="Picture 12" descr="A_PowerPoint_presentation_slide_is_divided_into_tw.png">
            <a:extLst>
              <a:ext uri="{FF2B5EF4-FFF2-40B4-BE49-F238E27FC236}">
                <a16:creationId xmlns:a16="http://schemas.microsoft.com/office/drawing/2014/main" id="{C1B80D32-06FA-E88C-A332-6D0196961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66" y="1028700"/>
            <a:ext cx="10342626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6874" y="264892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34581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</a:t>
            </a:r>
            <a:r>
              <a:rPr lang="en-US" spc="-10" dirty="0"/>
              <a:t>0</a:t>
            </a:r>
            <a:r>
              <a:rPr spc="-10" dirty="0"/>
              <a:t>-1</a:t>
            </a:r>
            <a:r>
              <a:rPr lang="en-US" spc="-10" dirty="0"/>
              <a:t>1</a:t>
            </a:r>
            <a:r>
              <a:rPr spc="-10"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3886200" y="6451048"/>
            <a:ext cx="1302003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105400" y="6451049"/>
            <a:ext cx="1044273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US" spc="-25" dirty="0"/>
              <a:t>AB2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41C71B5-9CC7-DBE5-9169-AB7DC184F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263769"/>
            <a:ext cx="1203960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R. F. Engle and V. K. Ng, “A Log Transformation Approach to Modeling Volatility in Financial Time Series,”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Journal of Econometrics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55, no. 1, pp. 265–290, 1993.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Makridakis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E. Spiliotis, and V.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Assimakopoulos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“The M4 Competition: Results, Findings, Conclusions and Way Forward,”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Forecasting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34, no. 4, pp. 802–808, 2018.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E. Hoerl and R. W. Kennard, “Ridge Regression: Applications to Stock Price Prediction,” 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Technometrics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12, no. 1, pp. 55–67, 1970.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T. Zhang and Y. Xu, “A Comprehensive Study on Log and Power Transformations for Time Series Forecasting,”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10, pp. 12134–12145, 2022.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J. Chen and X. Liu, “Variance Stabilizing Transformations in Finance: A Comparative Review,”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ACM Computing Surveys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54, no. 8, pp. 1–35, 2021.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T. Fischer and C. Krauss, “Deep Learning with Long Short-Term Memory Networks for Financial Market Predictions,”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European Journal of Operational Research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270, no. 2, pp. 654–669, 2018.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K. V. Kavitha and R. P. Rajesh, “Stock Market Forecasting Using Regularized Regression Models: A Ridge and Lasso Comparison,”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Procedia Computer Science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165, pp. 392–398, 2019.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N. Rao and S. Das, “Impact of Log–Power Normalization on Stock Market Prediction Accuracy,”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Expert Systems with Applications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174, 114345, 2021.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Q. Li and S. Zheng, “Application of Ridge Regression in Predictive Modeling of Financial Time Series,”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 Soft Computing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101, 106684, 2021.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1635125">
              <a:lnSpc>
                <a:spcPct val="100000"/>
              </a:lnSpc>
              <a:spcBef>
                <a:spcPts val="130"/>
              </a:spcBef>
            </a:pPr>
            <a:r>
              <a:rPr dirty="0"/>
              <a:t>QUESTIONS</a:t>
            </a:r>
            <a:r>
              <a:rPr spc="-150" dirty="0"/>
              <a:t> </a:t>
            </a:r>
            <a:r>
              <a:rPr spc="-20" dirty="0"/>
              <a:t>and</a:t>
            </a:r>
            <a:r>
              <a:rPr spc="-265" dirty="0"/>
              <a:t> </a:t>
            </a:r>
            <a:r>
              <a:rPr spc="-10" dirty="0"/>
              <a:t>ANSWERS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</a:t>
            </a:r>
            <a:r>
              <a:rPr lang="en-US" spc="-10" dirty="0"/>
              <a:t>0</a:t>
            </a:r>
            <a:r>
              <a:rPr spc="-10" dirty="0"/>
              <a:t>-1</a:t>
            </a:r>
            <a:r>
              <a:rPr lang="en-US" spc="-10" dirty="0"/>
              <a:t>1</a:t>
            </a:r>
            <a:r>
              <a:rPr spc="-10"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038600" y="6451049"/>
            <a:ext cx="1149603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000072" y="6451050"/>
            <a:ext cx="114960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US" spc="-25" dirty="0"/>
              <a:t>AB2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9E278B-08A2-9EB8-EAF9-AB537B85B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6172200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93133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1336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ACKNOWLEGEMENTS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</a:t>
            </a:r>
            <a:r>
              <a:rPr lang="en-US" spc="-10" dirty="0"/>
              <a:t>0</a:t>
            </a:r>
            <a:r>
              <a:rPr spc="-10" dirty="0"/>
              <a:t>-1</a:t>
            </a:r>
            <a:r>
              <a:rPr lang="en-US" spc="-10" dirty="0"/>
              <a:t>1</a:t>
            </a:r>
            <a:r>
              <a:rPr spc="-10"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191000" y="6451049"/>
            <a:ext cx="997203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188204" y="6451050"/>
            <a:ext cx="9614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US" spc="-25" dirty="0"/>
              <a:t>AB2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279435E-E930-8C4A-8E98-AEB206B08FC5}"/>
              </a:ext>
            </a:extLst>
          </p:cNvPr>
          <p:cNvSpPr/>
          <p:nvPr/>
        </p:nvSpPr>
        <p:spPr>
          <a:xfrm>
            <a:off x="1524000" y="2209800"/>
            <a:ext cx="8860790" cy="2438400"/>
          </a:xfrm>
          <a:prstGeom prst="roundRect">
            <a:avLst/>
          </a:prstGeom>
          <a:effectLst>
            <a:glow rad="101600">
              <a:schemeClr val="tx1">
                <a:lumMod val="75000"/>
                <a:lumOff val="25000"/>
                <a:alpha val="6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</TotalTime>
  <Words>2334</Words>
  <Application>Microsoft Office PowerPoint</Application>
  <PresentationFormat>Widescreen</PresentationFormat>
  <Paragraphs>275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PowerPoint Presentation</vt:lpstr>
      <vt:lpstr>Department of Computer Science and Engineering  Stock Market Prediction Using Sequential Log-Power Normalization and Ridge Regression  </vt:lpstr>
      <vt:lpstr>OUTLINE</vt:lpstr>
      <vt:lpstr>ABSTRACT</vt:lpstr>
      <vt:lpstr>INTRODUCTION</vt:lpstr>
      <vt:lpstr>LITERATURE SURVEY</vt:lpstr>
      <vt:lpstr>LITERATURE SURVEY</vt:lpstr>
      <vt:lpstr>RESEARCH GAPS</vt:lpstr>
      <vt:lpstr>PROBLEM STATEMENT</vt:lpstr>
      <vt:lpstr>OBJECTIVES</vt:lpstr>
      <vt:lpstr>BLOCK DIAGRAM OR FLOW DIAGRAM</vt:lpstr>
      <vt:lpstr>METHODOLOGY</vt:lpstr>
      <vt:lpstr>IMPLEMENTATION</vt:lpstr>
      <vt:lpstr>RESULTS &amp; ANALYSIS</vt:lpstr>
      <vt:lpstr>PowerPoint Presentation</vt:lpstr>
      <vt:lpstr>REFERENCES</vt:lpstr>
      <vt:lpstr>QUESTIONS and ANSWERS</vt:lpstr>
      <vt:lpstr>ACKNOWLEGEMENTS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BUJJI IS HERE!!!!!!!!!!!!!</dc:creator>
  <cp:lastModifiedBy>BUJJI IS HERE!!!!!!!!!!!!!</cp:lastModifiedBy>
  <cp:revision>4</cp:revision>
  <dcterms:created xsi:type="dcterms:W3CDTF">2025-11-08T15:38:23Z</dcterms:created>
  <dcterms:modified xsi:type="dcterms:W3CDTF">2025-11-10T02:09:51Z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2024-12-19T00:00:00Z</vt:filetime>
  </property>
  <property fmtid="{D5CDD505-2E9C-101B-9397-08002B2CF9AE}" pid="3" name="LastSaved">
    <vt:filetime>2025-11-08T00:00:00Z</vt:filetime>
  </property>
</Properties>
</file>