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80" r:id="rId2"/>
    <p:sldId id="258" r:id="rId3"/>
    <p:sldId id="260" r:id="rId4"/>
    <p:sldId id="262" r:id="rId5"/>
    <p:sldId id="279" r:id="rId6"/>
    <p:sldId id="263" r:id="rId7"/>
    <p:sldId id="265" r:id="rId8"/>
    <p:sldId id="270" r:id="rId9"/>
    <p:sldId id="266" r:id="rId10"/>
    <p:sldId id="269" r:id="rId11"/>
    <p:sldId id="290" r:id="rId12"/>
    <p:sldId id="291" r:id="rId13"/>
    <p:sldId id="294" r:id="rId14"/>
    <p:sldId id="292" r:id="rId15"/>
    <p:sldId id="295" r:id="rId16"/>
    <p:sldId id="293" r:id="rId17"/>
    <p:sldId id="296" r:id="rId18"/>
    <p:sldId id="297" r:id="rId19"/>
    <p:sldId id="281" r:id="rId20"/>
    <p:sldId id="298" r:id="rId21"/>
    <p:sldId id="284" r:id="rId22"/>
    <p:sldId id="299" r:id="rId23"/>
    <p:sldId id="288" r:id="rId24"/>
    <p:sldId id="278" r:id="rId25"/>
    <p:sldId id="275" r:id="rId26"/>
    <p:sldId id="27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8520384-AF8C-49A8-8FE3-F5CDD2A9BDF3}">
          <p14:sldIdLst>
            <p14:sldId id="280"/>
            <p14:sldId id="258"/>
            <p14:sldId id="260"/>
            <p14:sldId id="262"/>
            <p14:sldId id="279"/>
            <p14:sldId id="263"/>
            <p14:sldId id="265"/>
            <p14:sldId id="270"/>
            <p14:sldId id="266"/>
            <p14:sldId id="269"/>
            <p14:sldId id="290"/>
            <p14:sldId id="291"/>
            <p14:sldId id="294"/>
            <p14:sldId id="292"/>
            <p14:sldId id="295"/>
            <p14:sldId id="293"/>
            <p14:sldId id="296"/>
            <p14:sldId id="297"/>
            <p14:sldId id="281"/>
            <p14:sldId id="298"/>
            <p14:sldId id="284"/>
            <p14:sldId id="299"/>
          </p14:sldIdLst>
        </p14:section>
        <p14:section name="Untitled Section" id="{2DC1DCD1-FCBA-4DDF-B1D8-E1F1F9B2BCC3}">
          <p14:sldIdLst>
            <p14:sldId id="288"/>
            <p14:sldId id="278"/>
            <p14:sldId id="275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99655-05E8-4463-9482-2D23FD405AF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9CC48-2212-46F0-B96C-6F8104E82434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385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582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E0E28-087F-4BBF-B8BC-055CB0BBD464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E3DF0-35B4-40E5-AC91-1A2000F81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1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5E3DF0-35B4-40E5-AC91-1A2000F8127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383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FB5A5-9AD5-4C5E-A5FC-411B4C382AB6}" type="datetime1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65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A069-8CF8-43D5-890A-A44A98E25D4C}" type="datetime1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02064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76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AE7CB-7D39-466B-8634-DE2E8DBAAAAB}" type="datetime1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791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4CE5-D04D-409B-9869-5DBF0E4AD9AC}" type="datetime1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758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3E3F0-3239-452D-89E4-50B40260EA65}" type="datetime1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27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51DC4-E4E5-478F-B8AD-62EAD6D9AE26}" type="datetime1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415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8CCD1-712E-439D-A2B1-47B4864D2FAB}" type="datetime1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62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42DC-6938-4DE2-8836-2262FC4648C6}" type="datetime1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20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0E9A-9EA9-4B6C-B63C-A773486B3B4C}" type="datetime1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27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DDBB6-CEFF-4F52-85D4-2806C50501D3}" type="datetime1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35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F3F4F-2379-4AAE-852C-45DA149BAF29}" type="datetime1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206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3322B-0C8F-4E46-AC65-0C697070F09E}" type="datetime1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517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CD1E-CE49-9C56-B94F-276875E4B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7011"/>
            <a:ext cx="8553061" cy="2566574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Stock Market Prediction </a:t>
            </a:r>
            <a:br>
              <a:rPr lang="en-US" sz="36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00B050"/>
                </a:solidFill>
              </a:rPr>
              <a:t>Using Sequential Log-Power Normalization and Ridge Regression</a:t>
            </a:r>
            <a:br>
              <a:rPr lang="en-US" sz="3600" dirty="0">
                <a:solidFill>
                  <a:srgbClr val="C00000"/>
                </a:solidFill>
              </a:rPr>
            </a:br>
            <a:endParaRPr lang="en-IN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4A291-3840-A232-5FDD-C957319B9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904FB-2836-468E-82A3-DB729264CBE4}" type="datetime1">
              <a:rPr lang="en-IN" smtClean="0"/>
              <a:t>07-12-2025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574E5-84A6-D65B-08F8-6ABFAD25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EAE83-E101-7788-5957-F7FCBA3F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1C1983-F81B-E494-6D2E-28B0DBB06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674"/>
            <a:ext cx="3762900" cy="57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15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/>
          <p:cNvSpPr txBox="1">
            <a:spLocks/>
          </p:cNvSpPr>
          <p:nvPr/>
        </p:nvSpPr>
        <p:spPr>
          <a:xfrm>
            <a:off x="1834796" y="659415"/>
            <a:ext cx="8915400" cy="375925"/>
          </a:xfrm>
          <a:prstGeom prst="roundRect">
            <a:avLst>
              <a:gd name="adj" fmla="val 16667"/>
            </a:avLst>
          </a:prstGeom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ctr">
              <a:spcBef>
                <a:spcPct val="20000"/>
              </a:spcBef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itchFamily="18" charset="0"/>
              </a:rPr>
              <a:t>Department of Computer Science and Engineering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/>
              <a:t>                      Stock Market Prediction Using Sequential Log-Power</a:t>
            </a:r>
          </a:p>
          <a:p>
            <a:r>
              <a:rPr lang="en-US" sz="2000" dirty="0"/>
              <a:t>                                    Normalization and Ridge Regression</a:t>
            </a:r>
          </a:p>
          <a:p>
            <a:pPr lvl="0" algn="ctr">
              <a:spcBef>
                <a:spcPct val="20000"/>
              </a:spcBef>
              <a:defRPr/>
            </a:pPr>
            <a:b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1881450" y="1968030"/>
            <a:ext cx="9144000" cy="1603428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PRESENTED BY</a:t>
            </a:r>
          </a:p>
          <a:p>
            <a:pPr algn="l"/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	</a:t>
            </a:r>
            <a:r>
              <a:rPr lang="en-IN" sz="1600" dirty="0"/>
              <a:t>Cherukuri Thirumala </a:t>
            </a:r>
            <a:r>
              <a:rPr lang="en-IN" sz="1600" dirty="0" err="1"/>
              <a:t>Malyadri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                  </a:t>
            </a:r>
            <a:r>
              <a:rPr lang="en-US" altLang="en-US" sz="1600" dirty="0">
                <a:latin typeface="Times New Roman" panose="02020603050405020304" pitchFamily="18" charset="0"/>
                <a:cs typeface="Times New Roman" pitchFamily="18" charset="0"/>
              </a:rPr>
              <a:t>22471A0509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l"/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</a:t>
            </a:r>
            <a:r>
              <a:rPr lang="en-US" altLang="en-US" sz="1600" dirty="0">
                <a:latin typeface="Times New Roman" panose="02020603050405020304" pitchFamily="18" charset="0"/>
                <a:cs typeface="Times New Roman" pitchFamily="18" charset="0"/>
              </a:rPr>
              <a:t>	</a:t>
            </a:r>
            <a:r>
              <a:rPr lang="en-IN" sz="1600" dirty="0"/>
              <a:t>Challa Rohith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	                  </a:t>
            </a:r>
            <a:r>
              <a:rPr lang="en-US" altLang="en-US" sz="1600" dirty="0">
                <a:latin typeface="Times New Roman" panose="02020603050405020304" pitchFamily="18" charset="0"/>
                <a:cs typeface="Times New Roman" pitchFamily="18" charset="0"/>
              </a:rPr>
              <a:t>22471A0507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l"/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</a:t>
            </a:r>
            <a:r>
              <a:rPr lang="en-US" altLang="en-US" sz="1600" dirty="0">
                <a:latin typeface="Times New Roman" panose="02020603050405020304" pitchFamily="18" charset="0"/>
                <a:cs typeface="Times New Roman" pitchFamily="18" charset="0"/>
              </a:rPr>
              <a:t>	</a:t>
            </a:r>
            <a:r>
              <a:rPr lang="en-IN" sz="1600" dirty="0"/>
              <a:t>Mitta Venu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                                                      </a:t>
            </a:r>
            <a:r>
              <a:rPr lang="en-US" altLang="en-US" sz="1600" dirty="0">
                <a:latin typeface="Times New Roman" panose="02020603050405020304" pitchFamily="18" charset="0"/>
                <a:cs typeface="Times New Roman" pitchFamily="18" charset="0"/>
              </a:rPr>
              <a:t>22471A0537</a:t>
            </a:r>
          </a:p>
          <a:p>
            <a:pPr algn="l"/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	</a:t>
            </a:r>
            <a:r>
              <a:rPr lang="en-IN" sz="1600" dirty="0" err="1"/>
              <a:t>Chevuri</a:t>
            </a:r>
            <a:r>
              <a:rPr lang="en-IN" sz="1600" dirty="0"/>
              <a:t> Chandu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		22471A0511</a:t>
            </a:r>
          </a:p>
        </p:txBody>
      </p:sp>
      <p:sp>
        <p:nvSpPr>
          <p:cNvPr id="17" name="Subtitle 2"/>
          <p:cNvSpPr txBox="1">
            <a:spLocks/>
          </p:cNvSpPr>
          <p:nvPr/>
        </p:nvSpPr>
        <p:spPr bwMode="auto">
          <a:xfrm>
            <a:off x="2782854" y="3571458"/>
            <a:ext cx="6858000" cy="2288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itchFamily="18" charset="0"/>
              </a:rPr>
              <a:t>Under the Guidance of,</a:t>
            </a:r>
            <a:endParaRPr lang="en-US" altLang="en-US" b="1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ct val="20000"/>
              </a:spcBef>
            </a:pPr>
            <a:r>
              <a:rPr lang="en-IN" sz="2400" dirty="0" err="1"/>
              <a:t>Kolisetty</a:t>
            </a:r>
            <a:r>
              <a:rPr lang="en-IN" sz="2400" dirty="0"/>
              <a:t> Soma Sekhar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6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Assistant Professor,</a:t>
            </a: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Department of Computer Science and Engineering,</a:t>
            </a: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600" dirty="0" err="1">
                <a:latin typeface="Times New Roman" pitchFamily="18" charset="0"/>
                <a:cs typeface="Times New Roman" pitchFamily="18" charset="0"/>
              </a:rPr>
              <a:t>Narasaraopeta</a:t>
            </a: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 Engineering College (Autonomous),</a:t>
            </a: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600" dirty="0" err="1">
                <a:latin typeface="Times New Roman" pitchFamily="18" charset="0"/>
                <a:cs typeface="Times New Roman" pitchFamily="18" charset="0"/>
              </a:rPr>
              <a:t>Narasaraopet</a:t>
            </a: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- 522 601.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674"/>
            <a:ext cx="3762900" cy="57902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E28E1-D21D-A890-E735-1BE8CECBF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311DF-0697-4E80-836E-43DF2195984E}" type="datetime1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A7BC5-E2C5-B866-376E-2136F399C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82B04-E0CD-BA5A-E603-26218D05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691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193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/ Flow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and Answers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FBD3E7-CA13-4C6D-C568-7526ADA9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8C50-672A-44E3-A054-C464663F0E7E}" type="datetime1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6A06A-AB34-B643-BCA7-915CF97DC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51766-A140-B3BD-55F8-E8376912C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752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8ED89-6CE2-1878-F958-F5F16C614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17A6-429A-4FAB-A13B-335914022B74}" type="datetime1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02C51E-C24F-2DF9-7455-5D3D609A6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E4974-64E8-3029-AF29-2817BC350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4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A086CD2-097C-AC55-4DB0-B67564210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531" y="1614196"/>
            <a:ext cx="10887269" cy="4562767"/>
          </a:xfrm>
        </p:spPr>
        <p:txBody>
          <a:bodyPr/>
          <a:lstStyle/>
          <a:p>
            <a:r>
              <a:rPr lang="en-US" dirty="0"/>
              <a:t>Stock price prediction is a challenging task due to volatility, noise, and non-linearity in financial time series. Traditional statistical models often fail to capture these irregularities, while deep learning approaches, although powerful, are computationally expensive and lack interpretability for practical financial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910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Financial markets exhibit highly dynamic, noisy, and unpredictable behavior influenced by global, economic, and psychological factors. Predicting stock movements is difficult because price fluctuations often demonstrate </a:t>
            </a:r>
            <a:r>
              <a:rPr lang="en-US" b="1" dirty="0"/>
              <a:t>non-stationarity, volatility clustering, and random variations</a:t>
            </a:r>
            <a:r>
              <a:rPr lang="en-US" dirty="0"/>
              <a:t>. Traditional forecasting models such as ARIMA and statistical regression approaches offer limited capability due to their inability to handle </a:t>
            </a:r>
            <a:r>
              <a:rPr lang="en-US" b="1" dirty="0"/>
              <a:t>skewed distributions, variance irregularities, and correlated stock attributes</a:t>
            </a:r>
            <a:r>
              <a:rPr lang="en-US" sz="2400" dirty="0"/>
              <a:t>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41334F-F304-F402-6BCD-557819BA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FBEF9-A74C-451A-8DE3-9ECB10565EBA}" type="datetime1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6FCB64-8655-3FE5-3A63-1D06DCC67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35026-E66F-12F5-FDDA-5C8F6ADB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754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6"/>
            <a:ext cx="10173182" cy="562154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6561"/>
            <a:ext cx="10515600" cy="58149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3E8CACDC-CE1B-448A-5D5F-BF4D715F95AE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8D3B62-7653-F786-D25A-A1621365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CD31-C1A7-4AD4-ABBC-4039B944A8B5}" type="datetime1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4FA552-215F-21C1-0F03-CE140A93D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Department of CSE</a:t>
            </a:r>
            <a:endParaRPr lang="en-IN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D6757A4-DF0D-DA45-33AE-86C71442D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B439FBF-2858-70BA-9979-5EEABAA47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688677"/>
              </p:ext>
            </p:extLst>
          </p:nvPr>
        </p:nvGraphicFramePr>
        <p:xfrm>
          <a:off x="933061" y="1063689"/>
          <a:ext cx="10420742" cy="5206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16">
                  <a:extLst>
                    <a:ext uri="{9D8B030D-6E8A-4147-A177-3AD203B41FA5}">
                      <a16:colId xmlns:a16="http://schemas.microsoft.com/office/drawing/2014/main" val="2731928346"/>
                    </a:ext>
                  </a:extLst>
                </a:gridCol>
                <a:gridCol w="1595756">
                  <a:extLst>
                    <a:ext uri="{9D8B030D-6E8A-4147-A177-3AD203B41FA5}">
                      <a16:colId xmlns:a16="http://schemas.microsoft.com/office/drawing/2014/main" val="3080833834"/>
                    </a:ext>
                  </a:extLst>
                </a:gridCol>
                <a:gridCol w="1538886">
                  <a:extLst>
                    <a:ext uri="{9D8B030D-6E8A-4147-A177-3AD203B41FA5}">
                      <a16:colId xmlns:a16="http://schemas.microsoft.com/office/drawing/2014/main" val="291558650"/>
                    </a:ext>
                  </a:extLst>
                </a:gridCol>
                <a:gridCol w="1567321">
                  <a:extLst>
                    <a:ext uri="{9D8B030D-6E8A-4147-A177-3AD203B41FA5}">
                      <a16:colId xmlns:a16="http://schemas.microsoft.com/office/drawing/2014/main" val="291715563"/>
                    </a:ext>
                  </a:extLst>
                </a:gridCol>
                <a:gridCol w="1605752">
                  <a:extLst>
                    <a:ext uri="{9D8B030D-6E8A-4147-A177-3AD203B41FA5}">
                      <a16:colId xmlns:a16="http://schemas.microsoft.com/office/drawing/2014/main" val="1217026907"/>
                    </a:ext>
                  </a:extLst>
                </a:gridCol>
                <a:gridCol w="1530220">
                  <a:extLst>
                    <a:ext uri="{9D8B030D-6E8A-4147-A177-3AD203B41FA5}">
                      <a16:colId xmlns:a16="http://schemas.microsoft.com/office/drawing/2014/main" val="2414850482"/>
                    </a:ext>
                  </a:extLst>
                </a:gridCol>
                <a:gridCol w="1565991">
                  <a:extLst>
                    <a:ext uri="{9D8B030D-6E8A-4147-A177-3AD203B41FA5}">
                      <a16:colId xmlns:a16="http://schemas.microsoft.com/office/drawing/2014/main" val="2696253533"/>
                    </a:ext>
                  </a:extLst>
                </a:gridCol>
              </a:tblGrid>
              <a:tr h="83975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550" b="1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550" b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55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Methodology Adapted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55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latin typeface="Calibri"/>
                          <a:cs typeface="Calibri"/>
                        </a:rPr>
                        <a:t>Findings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3602661406"/>
                  </a:ext>
                </a:extLst>
              </a:tr>
              <a:tr h="83975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Driver Fatigue Detection Based on Eye States With Pupil and Iris Segmentation</a:t>
                      </a:r>
                      <a:endParaRPr lang="en-I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dirty="0"/>
                        <a:t>Hariharan P., Surya N.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i="1" dirty="0"/>
                        <a:t>American Journal of Psychiatric Rehabilitation</a:t>
                      </a:r>
                      <a:r>
                        <a:rPr lang="en-US" sz="1000" dirty="0"/>
                        <a:t>, 2025</a:t>
                      </a:r>
                      <a:endParaRPr lang="en-US" sz="1000" b="0" i="0" u="sng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U-Net for segmentation + decision network for eye state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/>
                        <a:t>Achieved 96.72% accuracy; effective real-time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/>
                        <a:t>Small dataset; requires more diverse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0474927"/>
                  </a:ext>
                </a:extLst>
              </a:tr>
              <a:tr h="83975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Efficient Driver Drunk Detection by Sensors: A Manifold Learning-Based Anomaly Detector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dirty="0"/>
                        <a:t>Huang J., Ding W., Yu G.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i="1" dirty="0"/>
                        <a:t>Alexandria Engineering Journal</a:t>
                      </a:r>
                      <a:r>
                        <a:rPr lang="en-IN" sz="1000" dirty="0"/>
                        <a:t>, 2025</a:t>
                      </a:r>
                      <a:endParaRPr lang="en-US" sz="1000" b="0" i="0" u="sng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/>
                        <a:t>t-SNE for feature reduction + Isolation Forest for anomaly detection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/>
                        <a:t>AUC ≈ 95%; outperformed PCA, ICA, EE,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/>
                        <a:t>Small dataset; requires more diverse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3983363"/>
                  </a:ext>
                </a:extLst>
              </a:tr>
              <a:tr h="83975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Fusion of EEG and Eye Blink Analysis for Detection of Driver Fatigue</a:t>
                      </a:r>
                      <a:endParaRPr lang="en-I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dirty="0"/>
                        <a:t>Kang M. et al.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i="1" dirty="0"/>
                        <a:t>IEEE/CVF Winter Conf. on Applications of Computer Vision</a:t>
                      </a:r>
                      <a:r>
                        <a:rPr lang="en-US" sz="1000" dirty="0"/>
                        <a:t>, 2025</a:t>
                      </a:r>
                      <a:endParaRPr lang="en-US" sz="1000" b="0" i="0" u="sng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/>
                        <a:t>Single-channel EEG + eye blink interval + DWT + feature selection + AdaBoost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/>
                        <a:t>88.4% accuracy, 90.2% sensitivity; usable with portable EEG headbands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/>
                        <a:t>Multi-channel EEGs perform better; limited real-world use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5078088"/>
                  </a:ext>
                </a:extLst>
              </a:tr>
              <a:tr h="83609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Novel Transfer Learning Approach for Driver Drowsiness Detection Using Eye Movement Behavior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000" dirty="0"/>
                        <a:t>Pehlivanoğlu M. K. et al.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i="1" dirty="0"/>
                        <a:t>Eur. Phys. J. Spec. Top.</a:t>
                      </a:r>
                      <a:r>
                        <a:rPr lang="en-US" sz="1000" dirty="0"/>
                        <a:t>, 2025</a:t>
                      </a:r>
                      <a:endParaRPr lang="en-US" sz="1000" b="0" i="0" u="sng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/>
                        <a:t>VGG-16 feature extraction + LGBM classification + k-fold validation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/>
                        <a:t>Achieved 99% accuracy; real-time detection in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/>
                        <a:t>Synthetic dataset; lacks real-world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25247165"/>
                  </a:ext>
                </a:extLst>
              </a:tr>
              <a:tr h="83975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A Systematic Review on Driver Drowsiness Detection Using Eye Activity Measures</a:t>
                      </a:r>
                      <a:endParaRPr lang="en-I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dirty="0"/>
                        <a:t>Bai R., </a:t>
                      </a:r>
                      <a:r>
                        <a:rPr lang="es-ES" sz="1000" dirty="0" err="1"/>
                        <a:t>Xu</a:t>
                      </a:r>
                      <a:r>
                        <a:rPr lang="es-ES" sz="1000" dirty="0"/>
                        <a:t> G., Shi Y.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i="1" dirty="0"/>
                        <a:t>Int. Conf. on Health Big Data</a:t>
                      </a:r>
                      <a:r>
                        <a:rPr lang="en-US" sz="1000" dirty="0"/>
                        <a:t>, 2025</a:t>
                      </a:r>
                      <a:endParaRPr lang="en-US" sz="1000" b="0" i="0" u="sng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/>
                        <a:t>Systematic PRISMA-based review of 41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/>
                        <a:t>Reported 95-99% accuracy in various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/>
                        <a:t>Lack of real-world test validation; small sample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7827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723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92119F-233E-6AF8-E556-B0BA03A5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0892-EA35-4E2B-9FCB-56A89D218D97}" type="datetime1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FF025-A324-7CE7-70A0-733944D4D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2C21C-20A4-633C-3CCB-36642694D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7</a:t>
            </a:fld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7E048CF-9F72-0735-FA23-02CCFD96DF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6375" y="1548828"/>
            <a:ext cx="1180944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sz="2400" dirty="0"/>
              <a:t>Stock prices are skewed, noisy, and heteroscedastic, making direct regression inaccurate.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Prior studies use either log or power transformation, but not a combined sequential approach for stronger variance stabilization.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LSTM and neural networks perform well but are </a:t>
            </a:r>
            <a:r>
              <a:rPr lang="en-US" sz="2400" b="1" dirty="0"/>
              <a:t>computationally expensive, hard to interpret, and not suitable for lightweight decision systems</a:t>
            </a:r>
            <a:r>
              <a:rPr lang="en-US" sz="2400" dirty="0"/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Many approaches focus on architecture improvement rather than demonstrating </a:t>
            </a:r>
            <a:r>
              <a:rPr lang="en-US" sz="2400" b="1" dirty="0"/>
              <a:t>how data conditioning improves prediction performance</a:t>
            </a:r>
            <a:r>
              <a:rPr lang="en-US" sz="2400" dirty="0"/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Stock features such as Open, High, Low, and Close are highly correlated, yet most models do not manage these dependencies effectively.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168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Financial time-series data such as stock prices exhibit </a:t>
            </a:r>
            <a:r>
              <a:rPr lang="en-US" sz="2400" b="1" dirty="0"/>
              <a:t>high variance, skewed distribution, noise, and multicollinearity</a:t>
            </a:r>
            <a:r>
              <a:rPr lang="en-US" sz="2400" dirty="0"/>
              <a:t> between features like Open, High, Low, and Close values.</a:t>
            </a:r>
          </a:p>
          <a:p>
            <a:r>
              <a:rPr lang="en-US" sz="2400" dirty="0"/>
              <a:t>Traditional statistical models struggle to learn effectively from such unstable data, while deep learning approaches — although accurate — are </a:t>
            </a:r>
            <a:r>
              <a:rPr lang="en-US" sz="2400" b="1" dirty="0"/>
              <a:t>computationally expensive, data-hungry, and difficult to interpret</a:t>
            </a:r>
            <a:r>
              <a:rPr lang="en-US" sz="2400" dirty="0"/>
              <a:t>.</a:t>
            </a:r>
          </a:p>
          <a:p>
            <a:r>
              <a:rPr lang="en-US" sz="2400" dirty="0"/>
              <a:t>Existing prediction models typically use </a:t>
            </a:r>
            <a:r>
              <a:rPr lang="en-US" sz="2400" b="1" dirty="0"/>
              <a:t>single-stage normalization</a:t>
            </a:r>
            <a:r>
              <a:rPr lang="en-US" sz="2400" dirty="0"/>
              <a:t>, which is insufficient for stabilizing variance, leading to poorer regression performance and reduced generalization ability.</a:t>
            </a:r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59474-7EBD-6FA8-65C2-773D9885C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21A6-A714-46DE-9D6C-E25FDA1ED907}" type="datetime1">
              <a:rPr lang="en-IN" smtClean="0"/>
              <a:t>07-12-2025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55423-4ED6-0AFC-C04D-87146FEA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BABB6-5FC0-322E-8740-3931DFACA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738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 applying sequential log and Yeo–Johnson power transformations to reduce skewness and heteroscedasticity.</a:t>
            </a:r>
          </a:p>
          <a:p>
            <a:r>
              <a:rPr lang="en-US" dirty="0"/>
              <a:t>As a lightweight and interpretable forecasting model capable of handling multicollinearity among financial variables.</a:t>
            </a:r>
          </a:p>
          <a:p>
            <a:r>
              <a:rPr lang="en-US" dirty="0"/>
              <a:t>Against baseline models such as Linear Regression, Support Vector Regression, Neural Networks, and deep learning approaches.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D0A2E5-1D96-2644-AD07-BB26F5C22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39D98-4515-4C4E-B27C-0EAC45FDE2BC}" type="datetime1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87A48-10C8-D9FC-79B2-BD418572E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10593-8210-1B12-6E36-5D96251AE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23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                                Data Collection</a:t>
            </a:r>
          </a:p>
          <a:p>
            <a:r>
              <a:rPr lang="en-US" dirty="0"/>
              <a:t>The dataset used in this study consists of historical stock market records collected from publicly available financial databases and exchange sources. Each entry includes fundamental trading attributes such as </a:t>
            </a:r>
            <a:r>
              <a:rPr lang="en-US" b="1" dirty="0"/>
              <a:t>Open price, High price, Low price, Close price, and traded Volume</a:t>
            </a:r>
            <a:r>
              <a:rPr lang="en-US" dirty="0"/>
              <a:t>, which represent the daily behavior of a stock. These values capture essential fluctuations in market activity and form the core predictors for forecasting models.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9C30C-63EB-EF97-A751-E264CA054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EFC3-2038-453C-A4D0-DE431556F5AF}" type="datetime1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D0FB8-9386-11A3-420F-B6BD7CDDF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AB3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D8B02-4971-6AFD-3523-84E9F2181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576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36EC9-0ADE-0313-99FD-A759B3AEA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310" y="1017037"/>
            <a:ext cx="10131490" cy="673651"/>
          </a:xfrm>
        </p:spPr>
        <p:txBody>
          <a:bodyPr>
            <a:normAutofit fontScale="90000"/>
          </a:bodyPr>
          <a:lstStyle/>
          <a:p>
            <a:r>
              <a:rPr lang="en-US" sz="5300" b="1" dirty="0"/>
              <a:t>Baseline Model Development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10E98-4526-0391-5171-2C0964BF8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basic neural network workflow is implemented first to act as a benchmark.</a:t>
            </a:r>
            <a:br>
              <a:rPr lang="en-US" dirty="0"/>
            </a:br>
            <a:r>
              <a:rPr lang="en-US" dirty="0"/>
              <a:t>It includes:</a:t>
            </a:r>
          </a:p>
          <a:p>
            <a:r>
              <a:rPr lang="en-US" dirty="0"/>
              <a:t>Normalization</a:t>
            </a:r>
          </a:p>
          <a:p>
            <a:r>
              <a:rPr lang="en-US" dirty="0"/>
              <a:t>Training a dense neural model</a:t>
            </a:r>
          </a:p>
          <a:p>
            <a:r>
              <a:rPr lang="en-US" dirty="0"/>
              <a:t>Prediction and evaluation</a:t>
            </a:r>
            <a:br>
              <a:rPr lang="en-US" dirty="0"/>
            </a:br>
            <a:r>
              <a:rPr lang="en-US" dirty="0"/>
              <a:t>This establishes reference performance for comparison.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EE112-3A13-D325-831D-6556C09A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A069-8CF8-43D5-890A-A44A98E25D4C}" type="datetime1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CBC9A-A2AF-2BB0-C69A-7003D2221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7FCBD-3C61-AC4C-6D4E-6DF2E373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435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0BEC-F621-5448-7EF4-1807E9CB5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452" y="1082351"/>
            <a:ext cx="9478347" cy="608337"/>
          </a:xfrm>
        </p:spPr>
        <p:txBody>
          <a:bodyPr>
            <a:noAutofit/>
          </a:bodyPr>
          <a:lstStyle/>
          <a:p>
            <a:r>
              <a:rPr lang="en-US" sz="4800" b="1" dirty="0"/>
              <a:t>Data Preprocessing</a:t>
            </a:r>
            <a:br>
              <a:rPr lang="en-US" sz="4800" b="1" dirty="0"/>
            </a:b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2F518-8696-DA83-60DD-61AC6A1EF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Raw financial data is skewed and unstable; therefore:</a:t>
            </a:r>
          </a:p>
          <a:p>
            <a:r>
              <a:rPr lang="en-US" dirty="0"/>
              <a:t>Date values are converted into numerical form</a:t>
            </a:r>
          </a:p>
          <a:p>
            <a:r>
              <a:rPr lang="en-US" dirty="0"/>
              <a:t>Categorical fields are removed</a:t>
            </a:r>
          </a:p>
          <a:p>
            <a:r>
              <a:rPr lang="en-US" dirty="0"/>
              <a:t>Missing values are handled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79F62-1F24-E066-EF2A-CF347F087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A069-8CF8-43D5-890A-A44A98E25D4C}" type="datetime1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C10B0-BE5A-79B7-D6DB-081BA9E45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439B3-1761-B00A-C8DE-BC5FB5A5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7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6114-1799-6FEA-992E-13ED4285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Before and After Preprocessing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8879135-51CF-3D5D-2B62-DA34E1B2CB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64" y="2318041"/>
            <a:ext cx="5548651" cy="3365775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12AD236-77CC-D020-5B11-EDC28195BF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665" y="2363220"/>
            <a:ext cx="6397543" cy="3365776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BC232-961C-8CCB-2D10-31A60715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4CE5-D04D-409B-9869-5DBF0E4AD9AC}" type="datetime1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90612-5F1F-E498-56E8-14933FF1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 Department of CSE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A5012-BC82-421C-93C2-8E29C5AA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540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DD3BF-1F20-02CF-E311-5C2525C7E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592" y="1325563"/>
            <a:ext cx="9954208" cy="365125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Variance Stabilization Pipeline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8AB66-31F1-43B3-0376-FB690CDB2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A069-8CF8-43D5-890A-A44A98E25D4C}" type="datetime1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96BF7-5181-9FBA-548A-DC8219FD5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29CC5-BFD7-AF73-D1C3-C8BADED6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14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F91A7CD-555A-B003-D9BA-32C9BCD51F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5110" y="1380578"/>
            <a:ext cx="8029114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well-behaved input data, a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two-stage transformation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applied: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a) Logarithmic Transformation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Compresses extreme values, reduces skewness, and stabilizes fluctuations.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linear model conditioning.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b) Yeo–Johnson Power Transformation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Further stabilizes variance and normalizes feature distribution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(works for both positive and negative values). </a:t>
            </a:r>
          </a:p>
        </p:txBody>
      </p:sp>
    </p:spTree>
    <p:extLst>
      <p:ext uri="{BB962C8B-B14F-4D97-AF65-F5344CB8AC3E}">
        <p14:creationId xmlns:p14="http://schemas.microsoft.com/office/powerpoint/2010/main" val="2146263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9F2F-A17E-1E61-B01B-C83A290FE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86" y="681135"/>
            <a:ext cx="9590314" cy="100955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</a:rPr>
              <a:t>Dense layer connectivity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8E8F58D-8526-6480-25D7-468C695C9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951" y="1936382"/>
            <a:ext cx="5775947" cy="327475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36EFD-D714-883B-9A81-FAAE5CA03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A069-8CF8-43D5-890A-A44A98E25D4C}" type="datetime1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16EC7-097F-69BE-F257-4E4439748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9EF04-5D13-EBA8-BE10-44F7138C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6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7D566-CAD5-A7E3-45F3-F65DC2DE7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0220"/>
            <a:ext cx="10515599" cy="16046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Standardization and Imputation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5D3D0-43C6-DC37-8A47-F0576E370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15207"/>
            <a:ext cx="10515600" cy="3461755"/>
          </a:xfrm>
        </p:spPr>
        <p:txBody>
          <a:bodyPr/>
          <a:lstStyle/>
          <a:p>
            <a:r>
              <a:rPr lang="en-US" dirty="0"/>
              <a:t>Feature scaling using </a:t>
            </a:r>
            <a:r>
              <a:rPr lang="en-US" dirty="0" err="1"/>
              <a:t>StandardScaler</a:t>
            </a:r>
            <a:r>
              <a:rPr lang="en-US" dirty="0"/>
              <a:t> ensures:</a:t>
            </a:r>
          </a:p>
          <a:p>
            <a:r>
              <a:rPr lang="en-US" dirty="0"/>
              <a:t>Zero mean</a:t>
            </a:r>
          </a:p>
          <a:p>
            <a:r>
              <a:rPr lang="en-US" dirty="0"/>
              <a:t>Unit variance</a:t>
            </a:r>
          </a:p>
          <a:p>
            <a:r>
              <a:rPr lang="en-US" dirty="0"/>
              <a:t>Median imputation is applied to handle any remaining missing values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A2C11-6BF9-CEF0-BD11-E74972904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A069-8CF8-43D5-890A-A44A98E25D4C}" type="datetime1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A27EE-9652-89F5-2AC0-738942366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B4039-1BC9-25BD-992A-051AD708D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511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01D13-6C06-F49B-F615-D509F5BC5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854" y="1475013"/>
            <a:ext cx="9804918" cy="477708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 Model Training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E8576-43D8-8E9E-2844-506E2B15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A069-8CF8-43D5-890A-A44A98E25D4C}" type="datetime1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FE48E-582E-85FF-110F-4ACE67D5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194E-297E-1B98-F896-76F3E54EF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17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F992818-8E22-7223-F5BF-130930B4A3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3061" y="2135944"/>
            <a:ext cx="9546946" cy="324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Ridge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Chosen for its ability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multicollinearity among stock attributes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 overfitting through regularization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mild penalty parameter (α = 0.1) ensures stable learning.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Comparison Neural Network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dense network is also trained for comparative study. </a:t>
            </a:r>
          </a:p>
        </p:txBody>
      </p:sp>
    </p:spTree>
    <p:extLst>
      <p:ext uri="{BB962C8B-B14F-4D97-AF65-F5344CB8AC3E}">
        <p14:creationId xmlns:p14="http://schemas.microsoft.com/office/powerpoint/2010/main" val="1360531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A8B8-D634-E8B6-E92E-501ECC666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2612" y="1418253"/>
            <a:ext cx="8647921" cy="227985"/>
          </a:xfrm>
        </p:spPr>
        <p:txBody>
          <a:bodyPr>
            <a:noAutofit/>
          </a:bodyPr>
          <a:lstStyle/>
          <a:p>
            <a:r>
              <a:rPr lang="en-US" sz="5400" b="1" dirty="0"/>
              <a:t>Evaluation</a:t>
            </a:r>
            <a:br>
              <a:rPr lang="en-US" sz="5400" b="1" dirty="0"/>
            </a:b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C50FA-12C4-1655-0217-B59AF60A4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Models are tested using:</a:t>
            </a:r>
          </a:p>
          <a:p>
            <a:r>
              <a:rPr lang="en-US" dirty="0"/>
              <a:t>R² score</a:t>
            </a:r>
          </a:p>
          <a:p>
            <a:r>
              <a:rPr lang="en-US" dirty="0"/>
              <a:t>Mean Squared Error (MSE)</a:t>
            </a:r>
          </a:p>
          <a:p>
            <a:r>
              <a:rPr lang="en-US" dirty="0"/>
              <a:t>Mean Absolute Error (MAE)</a:t>
            </a:r>
          </a:p>
          <a:p>
            <a:r>
              <a:rPr lang="en-US" dirty="0"/>
              <a:t>Predictions are visualized against actual stock prices for performance interpretation.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E39ED-0050-021D-EB46-594E763A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A069-8CF8-43D5-890A-A44A98E25D4C}" type="datetime1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09B85-1D70-5927-9944-89A25211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7B346-DB07-AF53-4034-43A7E8AB7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147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panose="05000000000000000000" charset="0"/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Specifications: 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Core i7Gen or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8GB (4 GB usable) 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Type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64-bit operating system</a:t>
            </a:r>
            <a:endParaRPr lang="en-US" sz="16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/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I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Specifications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 :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11 or above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Language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Distribution: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 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DBA71-92D9-8A6D-9D6B-04377BA99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2F91-AB49-409D-93CC-0C16C5444343}" type="datetime1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3B5A2-F818-84B9-F8FC-4A1BB93B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F0A31-B71C-661A-832E-FC6569D97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0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499DA-8B32-0D3B-B520-68AD1870E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502" y="839755"/>
            <a:ext cx="9646298" cy="85093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+mn-lt"/>
              </a:rPr>
              <a:t>PERFORMANCE ANALYSIS</a:t>
            </a:r>
            <a:br>
              <a:rPr lang="en-IN" dirty="0">
                <a:latin typeface="+mn-lt"/>
              </a:rPr>
            </a:b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EC667-833E-1B0E-0D17-B17D1D0E5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proposed prediction model was evaluated on multiple historical stock datasets to assess forecasting accuracy and generalization capability. After sequential log–power normalization, Ridge Regression achieved </a:t>
            </a:r>
            <a:r>
              <a:rPr lang="en-US" b="1" dirty="0"/>
              <a:t>significantly improved statistical stability</a:t>
            </a:r>
            <a:r>
              <a:rPr lang="en-US" dirty="0"/>
              <a:t>, allowing reliable trend learning even in highly volatile stock series.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56552-B113-3B14-B121-6CA42111C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A069-8CF8-43D5-890A-A44A98E25D4C}" type="datetime1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3446B-9C62-2DA8-B7BF-CFA9EB81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43AA3-3277-6264-78BD-F7407567C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769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DBA71-92D9-8A6D-9D6B-04377BA99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2F91-AB49-409D-93CC-0C16C5444343}" type="datetime1">
              <a:rPr lang="en-IN" smtClean="0"/>
              <a:t>07-12-2025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3B5A2-F818-84B9-F8FC-4A1BB93B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F0A31-B71C-661A-832E-FC6569D97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21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E2239D-C45B-F340-A5CD-2596B0C5B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Overall, the analysis confirms that the </a:t>
            </a:r>
            <a:r>
              <a:rPr lang="en-US" b="1" dirty="0"/>
              <a:t>log–power normalization pipeline significantly strengthens stock prediction accuracy</a:t>
            </a:r>
            <a:r>
              <a:rPr lang="en-US" dirty="0"/>
              <a:t>, making Ridge Regression a lightweight, interpretable, and highly reliable forecasting model suitable for financial decision support.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86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559C9-43AC-ABF6-414C-180034BA6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326" y="877078"/>
            <a:ext cx="10187473" cy="813610"/>
          </a:xfrm>
        </p:spPr>
        <p:txBody>
          <a:bodyPr>
            <a:normAutofit fontScale="90000"/>
          </a:bodyPr>
          <a:lstStyle/>
          <a:p>
            <a:r>
              <a:rPr lang="en-US" dirty="0"/>
              <a:t>PROPOSED MODEL VS PREVIOUSLY USED MODELS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CFCDED7-1B01-6CF2-5E06-E7ED7ED6E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459" y="2024743"/>
            <a:ext cx="5589530" cy="411479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C63B2-723C-C020-6BB3-C76D60E29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A069-8CF8-43D5-890A-A44A98E25D4C}" type="datetime1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E8F19-E0AB-1BED-8C98-2E918F289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BC9AE-BA48-9590-C3AD-7F6B0734F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978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This work presents an efficient and interpretable stock price prediction framework that integrates </a:t>
            </a:r>
            <a:r>
              <a:rPr lang="en-US" sz="3200" b="1" dirty="0"/>
              <a:t>sequential log–power variance stabilization with Ridge Regression</a:t>
            </a:r>
            <a:r>
              <a:rPr lang="en-US" sz="3200" dirty="0"/>
              <a:t>. </a:t>
            </a:r>
          </a:p>
          <a:p>
            <a:pPr algn="just"/>
            <a:r>
              <a:rPr lang="en-US" sz="3200" b="1" dirty="0"/>
              <a:t>Incorporating more input variables</a:t>
            </a:r>
            <a:r>
              <a:rPr lang="en-US" sz="3200" dirty="0"/>
              <a:t>, such as moving averages, financial sentiment, currency trends, and macroeconomic indicators.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9C30C-63EB-EF97-A751-E264CA054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EFC3-2038-453C-A4D0-DE431556F5AF}" type="datetime1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D0FB8-9386-11A3-420F-B6BD7CDDF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D8B02-4971-6AFD-3523-84E9F2181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310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7D4D0-1594-A7E9-4A9E-6422A1808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866E4-C1DD-4168-9CB1-2A69469C9459}" type="datetime1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F60856-5F1B-DE48-4BE8-299422E90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DFAF6-635B-204A-9D63-FAA89967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24</a:t>
            </a:fld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0304F0C-8332-E7D0-DAB9-870B90909B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935" y="2006658"/>
            <a:ext cx="1112986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/>
              <a:t>A. E. Hoerl and R. W. Kennard</a:t>
            </a:r>
            <a:r>
              <a:rPr lang="en-US" sz="2400" dirty="0"/>
              <a:t>, </a:t>
            </a:r>
            <a:r>
              <a:rPr lang="en-US" sz="2400" i="1" dirty="0"/>
              <a:t>“Ridge Regression: Applications to Stock Price Prediction,”</a:t>
            </a:r>
            <a:r>
              <a:rPr lang="en-US" sz="2400" dirty="0"/>
              <a:t> </a:t>
            </a:r>
            <a:r>
              <a:rPr lang="en-US" sz="2400" dirty="0" err="1"/>
              <a:t>Technometrics</a:t>
            </a:r>
            <a:r>
              <a:rPr lang="en-US" sz="2400" dirty="0"/>
              <a:t>, vol. 12, no. 1, pp. 55–67, 1970.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/>
              <a:t>T. Zhang and Y. Xu</a:t>
            </a:r>
            <a:r>
              <a:rPr lang="en-US" sz="2400" dirty="0"/>
              <a:t>, </a:t>
            </a:r>
            <a:r>
              <a:rPr lang="en-US" sz="2400" i="1" dirty="0"/>
              <a:t>“A Comprehensive Study on Log and Power Transformations for Time Series Forecasting,”</a:t>
            </a:r>
            <a:r>
              <a:rPr lang="en-US" sz="2400" dirty="0"/>
              <a:t> IEEE Access, vol. 10, pp. 12134–12145, 2022.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494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and ANSWERS</a:t>
            </a:r>
          </a:p>
        </p:txBody>
      </p:sp>
      <p:pic>
        <p:nvPicPr>
          <p:cNvPr id="2052" name="Picture 4" descr="Blog | Heaps and Doyle">
            <a:extLst>
              <a:ext uri="{FF2B5EF4-FFF2-40B4-BE49-F238E27FC236}">
                <a16:creationId xmlns:a16="http://schemas.microsoft.com/office/drawing/2014/main" id="{54CD5505-2B75-CFEE-DC85-79BD8FDC2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752" y="1493134"/>
            <a:ext cx="5522495" cy="4289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FAADC-11B5-8808-6718-EFB017184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7E762-5293-45E7-9A60-7F18C622639D}" type="datetime1">
              <a:rPr lang="en-IN" smtClean="0"/>
              <a:t>07-12-2025</a:t>
            </a:fld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3FA5AB-27AF-1711-3A14-CE1A5C363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 Department of CSE</a:t>
            </a:r>
            <a:endParaRPr lang="en-IN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58B7F6-8401-A28E-978F-89E42A28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977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ACKNOWLEGEMENTS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1EB2360-2A4C-D175-77EC-361B2F321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957" y="2045368"/>
            <a:ext cx="4002504" cy="3189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919F-39F6-9EF3-D345-D0B69071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7CD84-5468-4CD1-8B02-A1E73E7AE03D}" type="datetime1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0C236-7B98-FEC3-C82B-4A166D31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AB2       Department of CSE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9906E61-DB52-9F5D-503A-42A52C413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91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2590</TotalTime>
  <Words>1701</Words>
  <Application>Microsoft Office PowerPoint</Application>
  <PresentationFormat>Widescreen</PresentationFormat>
  <Paragraphs>237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Wingdings</vt:lpstr>
      <vt:lpstr>Office Theme</vt:lpstr>
      <vt:lpstr>Stock Market Prediction  Using Sequential Log-Power Normalization and Ridge Regression </vt:lpstr>
      <vt:lpstr>PowerPoint Presentation</vt:lpstr>
      <vt:lpstr>OUTLINE</vt:lpstr>
      <vt:lpstr>ABSTRACT</vt:lpstr>
      <vt:lpstr>INTRODUCTION</vt:lpstr>
      <vt:lpstr>LITERATURE SURVEY</vt:lpstr>
      <vt:lpstr>RESEARCH GAPS</vt:lpstr>
      <vt:lpstr>PROBLEM STATEMENT</vt:lpstr>
      <vt:lpstr>OBJECTIVES</vt:lpstr>
      <vt:lpstr>METHODOLOGY</vt:lpstr>
      <vt:lpstr>Baseline Model Development </vt:lpstr>
      <vt:lpstr>Data Preprocessing </vt:lpstr>
      <vt:lpstr>        Before and After Preprocessing</vt:lpstr>
      <vt:lpstr>Variance Stabilization Pipeline </vt:lpstr>
      <vt:lpstr>Dense layer connectivity</vt:lpstr>
      <vt:lpstr>Standardization and Imputation </vt:lpstr>
      <vt:lpstr> Model Training </vt:lpstr>
      <vt:lpstr>Evaluation </vt:lpstr>
      <vt:lpstr>IMPLEMENTATION</vt:lpstr>
      <vt:lpstr>PERFORMANCE ANALYSIS </vt:lpstr>
      <vt:lpstr>RESULTS &amp; ANALYSIS</vt:lpstr>
      <vt:lpstr>PROPOSED MODEL VS PREVIOUSLY USED MODELS</vt:lpstr>
      <vt:lpstr>CONCLUSION and FUTURE SCOPE</vt:lpstr>
      <vt:lpstr>REFERENCES</vt:lpstr>
      <vt:lpstr>QUESTIONS and ANSWERS</vt:lpstr>
      <vt:lpstr>ACKNOWLEGEMENTS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admin</dc:creator>
  <cp:lastModifiedBy>MOGHAL BABAR</cp:lastModifiedBy>
  <cp:revision>25</cp:revision>
  <dcterms:created xsi:type="dcterms:W3CDTF">2023-12-22T11:34:02Z</dcterms:created>
  <dcterms:modified xsi:type="dcterms:W3CDTF">2025-12-07T15:49:42Z</dcterms:modified>
</cp:coreProperties>
</file>